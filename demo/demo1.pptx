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76200" cy="68580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4114800"/>
            <a:ext cx="2286000" cy="22860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2027 Fall 英国商业分析硕士：选校与申请全攻略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14800"/>
            <a:ext cx="18288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Microsoft YaHei"/>
              </a:rPr>
              <a:t>帝国理工 · UCL · 华威 · 爱丁堡 四校深度对比与申请规划——用数据做决策，而不是用感觉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50292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t>综合各校官网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B2A4A"/>
                </a:solidFill>
                <a:latin typeface="Microsoft YaHei"/>
              </a:rPr>
              <a:t>认识商业分析硕士（MSc Business Analytics）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商业分析硕士用统计建模、机器学习与数据可视化方法，解决定价、营销、运营、风控等真实商业决策问题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与'写代码的工程师'不同，BA 强调'从数据到决策'的完整链条：理解业务→取数→建模→沟通落地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学位价值：同时训练'数据技能 + 商业判断 + 沟通表达'三项可迁移能力，就业面覆盖数据、咨询、金融与科技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英国 MSc BA 通常为 12 个月全日制，课程紧凑，毕业项目（capstone）与真实企业场景直接挂钩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适合人群：具备一定数学/统计基础，希望以最短时间进入数据分析赛道的本科毕业生与早期职场人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基于四校官网项目定位综合整理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3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商业分析 ≠ 数据科学 ≠ 商业智能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数据科学：更偏算法研发与大规模系统（深度学习、分布式计算），编程要求更深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商业分析：偏'用成熟方法回答商业问题'，把模型结果转化为业务建议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两者高度重叠，但 BA 的商科课程占比更高、编程深度以 SQL/R/Python 为主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商业智能（BI）：侧重报表、仪表盘与历史数据复盘（Tableau/Power BI）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商业分析：向前看——预测、优化、因果推断，回答'接下来会发生什么'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从 BI 到 BA 是技能升级路径而非互斥岗位；选校前请先想清楚自己的目标定位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四校共通的课程体系与工具栈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统计与计量：回归、假设检验、时间序列——一切分析的地基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机器学习：分类、聚类、树模型与神经网络入门，以及模型评估与调优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数据管理：SQL 数据库、数据清洗与 ETL，真实工作中'脏数据'处理是常态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可视化与商业沟通：Tableau/Power BI 仪表盘，面向高管的'数据叙事'能力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商业应用课：营销分析、运营分析、财务/风险管理等场景化模块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基于各校课程结构综合整理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职业前景与市场需求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先看清出口，再决定入口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6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毕业生三大典型岗位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YaHei"/>
              </a:rPr>
              <a:t>数据分析师（Data Analyst）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面向业务团队做报表、归因分析与专题研究，SQL + 可视化为核心技能，是最大的入门型岗位入口。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YaHei"/>
              </a:rPr>
              <a:t>商业/咨询分析师（Business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在咨询公司或企业战略部，用数据支撑商业模式评估、市场进入与流程优化，要求结构化思维与沟通力。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YaHei"/>
              </a:rPr>
              <a:t>产品/运营分析师（Product 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在互联网与零售行业围绕用户增长、转化漏斗、供应链效率做精细化分析，贴近业务、反馈快。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7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英国数据分析岗位薪资参考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57400"/>
            <a:ext cx="50800" cy="356616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0" y="1828800"/>
            <a:ext cx="2743200" cy="27432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3317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700" b="1">
                <a:solidFill>
                  <a:srgbClr val="C9A962"/>
                </a:solidFill>
                <a:latin typeface="Microsoft YaHei"/>
              </a:rPr>
              <a:t>约 £37,000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204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英国数据分析师平均年薪（Glassdoor，2025 年中）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4348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Microsoft YaHei"/>
              </a:rPr>
              <a:t>用已验证数据修正了常见的高估宣传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热门行业与雇主偏好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金融：银行、资管与 FinTech 的风控、信用评分、反欺诈分析岗位需求稳定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咨询：MBB 与四大数字化转型团队，看重结构化思维与商业敏感度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科技与互联网：增长分析、推荐评估、A/B 测试；伦敦、曼彻斯特、爱丁堡为英国三大科技就业集群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零售与快消：供应链优化、客户分层与定价策略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雇主硬技能偏好：SQL/Python 实操、A/B 测试与统计知识、清晰的数据沟通；软技能偏好：商业直觉与行业知识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通用行业信息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四大旗舰项目横向对比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学费、录取基调、轮次与 2027 信息状态一表看清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10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四校关键参数总览（以 2026 数据为参考）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57400"/>
            <a:ext cx="2072579" cy="44577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6979" y="2057400"/>
            <a:ext cx="2072579" cy="44577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8419" y="210312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帝国理工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59558" y="2057400"/>
            <a:ext cx="2072579" cy="44577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50998" y="210312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UCL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137" y="2057400"/>
            <a:ext cx="2072579" cy="44577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577" y="210312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华威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4716" y="2057400"/>
            <a:ext cx="2072579" cy="445770"/>
          </a:xfrm>
          <a:prstGeom prst="rect">
            <a:avLst/>
          </a:prstGeom>
          <a:solidFill>
            <a:srgbClr val="1B2A4A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6156" y="210312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爱丁堡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50317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4889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项目名称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6979" y="250317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78419" y="254889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MSc Business Analytics &amp; AI（2026 起更名）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59558" y="250317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0998" y="254889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Business Analytics MSc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137" y="250317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577" y="254889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MSc Business Analytics &amp; AI（2026 升级更名）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04716" y="250317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6156" y="254889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Business Analytics MSc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294894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299466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开设学院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86979" y="294894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78419" y="299466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Imperial Business School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59558" y="294894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50998" y="299466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UCL School of Management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137" y="294894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577" y="299466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Warwick Business School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04716" y="294894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6156" y="299466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爱丁堡大学商学院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339471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344043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学制与地点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6979" y="339471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78419" y="344043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12 个月 · 伦敦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59558" y="339471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50998" y="344043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 年 · 伦敦（金丝雀码头）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137" y="339471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577" y="344043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 年 · 考文垂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04716" y="339471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6156" y="344043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1 年 · 爱丁堡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384048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88620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2026 国际生学费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6979" y="384048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78419" y="388620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£47,000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59558" y="384048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50998" y="388620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£46,700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137" y="384048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577" y="388620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£38,150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04716" y="384048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96156" y="388620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约 £34,800*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28625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05840" y="433197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录取基调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6979" y="428625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78419" y="433197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量化专业 1:1/2:1，数学门槛高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59558" y="428625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50998" y="433197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相关专业 2:1，商科+量化并重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32137" y="428625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577" y="433197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2:1，专业口径宽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04716" y="428625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96156" y="433197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2:1，须含明显量化内容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473202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40" y="477774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申请费 / 押金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6979" y="473202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078419" y="477774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£125 / £6,500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59558" y="473202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50998" y="477774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押金为学费 10%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137" y="473202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23577" y="477774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押金 £2,500（4 周内）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4716" y="4732020"/>
            <a:ext cx="2072579" cy="445770"/>
          </a:xfrm>
          <a:prstGeom prst="rect">
            <a:avLst/>
          </a:prstGeom>
          <a:solidFill>
            <a:srgbClr val="F2F4F7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96156" y="477774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£60 / £2,500（28 天内）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517779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5840" y="522351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2027 年细节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86979" y="517779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8419" y="522351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尚未公布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59558" y="517779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50998" y="522351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尚未公布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32137" y="517779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223577" y="522351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尚未公布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04716" y="5177790"/>
            <a:ext cx="2072579" cy="445770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296156" y="5223510"/>
            <a:ext cx="1889699" cy="354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D2D2D"/>
                </a:solidFill>
                <a:latin typeface="Microsoft YaHei"/>
              </a:defRPr>
            </a:pPr>
            <a:r>
              <a:t>尚未公布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帝国理工（1/3）：项目概览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位于伦敦 South Kensington 的 Imperial Business School，以 STEM 基因与金融/科技雇主网络著称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年项目已更名为 MSc Business Analytics &amp; AI，课程向机器学习与 AI 应用倾斜；2027 年名称与内容以官网为准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12 个月全日制，官方定位面向'应届毕业生与早期职业人士'，偏好不超过 3 年工作经验的申请者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高度量化：官方明确要求具备高级微积分、概率、统计、线性代数基础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官方公告：在线（非全日制）BA 项目自 2026/27 学年起暂停招生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https://www.imperial.ac.uk/business-school/masters/business-analytics/admissions/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帝国理工（2/3）：课程与申请流程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课程贯穿编程与建模：官方明确课程使用 SQL、R、Python，内容涵盖数据结构与算法、统计、机器学习、优化等（具体模块以官网为准）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申请时需完成在线数学测试（Maths Test），并填写量化背景陈述（quantitative experience statement）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设有三篇短文：职业规划（350 词）、为何选择帝国理工（500 词）、体现学校价值观的经历（500 词）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短名单入围者需参加在线视频面试，考察动机、问题解决方式与协作能力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毕业应用项目与企业数据场景结合（最终结构以 2027 年官网为准）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https://www.imperial.ac.uk/business-school/masters/business-analytics/admissions/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13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帝国理工（3/3）：录取、费用与轮次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学历：量化专业一等或 2:1 学位（计算机、工程、数学、统计、物理、计量经济学等）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语言：雅思 7.0（单项≥6.5）；托福 iBT 100（单项≥22）；Duolingo 125（2026 标准为参考）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GMAT/GRE：非强制，但量化背景不足者强烈建议提交；官方参考 90 分位（第三方显示近年平均约 666）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国际生学费 £47,000；申请费 £125；offer 后押金 £6,500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轮次（供节奏参考）：R1 2025/9/28、R2 2026/1/7、R3 3/11、R4 4/29，滚动处理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https://www.imperial.ac.uk/business-school/masters/business-analytics/admissions/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14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UCL（1/3）：项目概览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UCL School of Management 开设，授课地点为伦敦金丝雀码头（Canary Wharf），紧邻金融城与雇主资源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一年制全日制，重'实践应用'：大量真实公司项目，最终以咨询项目/论文收尾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项目整合管理视角与统计、计算技能，官方定位为培养'数据分析 + 战略决策'复合型人才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2026/27 国际生学费 £46,700；需缴纳首年学费 10% 作为押金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注意区分：UCL 另有偏计算机方向的 BA（计算机科学方向），申请前务必确认所选项目代码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https://www.ucl.ac.uk/prospective-students/graduate/taught-degrees/business-analytics-msc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UCL（2/3）：课程体系（180 学分制）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总结构：6 门核心课（90 学分）+ 2 门选修（30 学分）+ 毕业项目/论文（60 学分）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核心课（第三方汇总，以官网为准）：商业战略与分析、营销分析、运营分析、商业分析统计基础、预测分析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选修方向示例：数据工程、数据可视化、自然语言处理、创造力与批判性思维、高绩效团队领导力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前两学期按'发现问题→建模→交付'的分析流程铺开，第三学期衔接咨询项目/论文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课程强调把技术方案落到业务价值上，适合目标是咨询与商业分析岗的学生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第三方课程汇总（masterscompare、studyqa），以 https://www.mgmt.ucl.ac.uk/business-analytics 为准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16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UCL（3/3）：录取、费用与截止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学历：相关专业 2:1 本科学位，官方未设硬性专业清单，但要求展示量化与编程潜力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语言：按 UCL 统一标准（通常为雅思 7.0 档位，分项要求以官网为准）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GMAT/GRE：官方未作强制要求；高分可酌情增强竞争力（以官网当年说明为准）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申请窗口（供参考）：需签证申请者 2025/10/20–2026/6/26（英国时间 17:00）；无需签证者延至 2026/8/28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项目竞争激烈，官方与往届经验均提示尽早申请；2027 截止日期尚未公布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https://www.ucl.ac.uk/prospective-students/graduate/taught-degrees/business-analytics-msc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17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华威（1/3）：项目概览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WBS（Warwick Business School）开设，英国老牌商学院，以就业服务与行业合作网络著称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年项目已升级更名为 MSc Business Analytics &amp; AI；2027 年细节以官网为准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一年制全日制，位于考文垂华威主校区，校园氛围集中、企业招聘活动密集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录取口径较宽：欢迎经济、商科、工程、心理、地理、社会、政治等多元背景（2:1 起）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对跨专业申请者友好，是'商科背景转数据分析'的热门选择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https://www.wbs.ac.uk/courses/masters/business-analytics-artificial-intelligence/fees/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18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华威（2/3）：课程体系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课程围绕数据管理与可视化、预测与时间序列、优化与决策分析等模块展开（2026 升级后加入 AI 内容）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强调'软硬结合'：既有建模硬技能，也有面向管理层汇报与决策沟通的训练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含小组实战与毕业项目，直接对接 WBS 的企业合作网络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WBS 提供简历指导、模拟面试与行业讲座等职业发展支持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课程表与必修/选修清单的 2027 版本尚未发布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https://www.wbs.ac.uk/courses/masters/business-analytics-artificial-intelligence/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19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华威（3/3）：录取、费用与申请策略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学术：2:1 学位（UK 体系或同等学力）；语言：雅思总分 7.0，最多两项 6.0/6.5，其余 7.0 以上（2026 标准）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GMAT：官方未列为必交项，但竞争激烈时高分可加分——以官网当年说明为准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国际生学费 £38,150；接受 offer 后 4 周内需缴 £2,500 押金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2026 年 9 月入学申请截止预计为 8 月，但热门项目招满即止，官方建议尽早提交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2027 学费与截止日期尚未公布，关注 WBS 官网 Fees and Funding 页面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https://www.wbs.ac.uk/courses/masters/business-analytics-artificial-intelligence/fees/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20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爱丁堡（1/3）：项目概览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爱丁堡大学商学院开设，依托爱丁堡在金融科技、数据与 AI 产业的集群（苏格兰科技中心）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一年制全日制，跨学科色彩强：管理科学、运筹学、统计学、计算机科学内容交织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国际生 2026/27 学费约 £34,800（第三方平台数据，以官网为准），是四校中相对亲民的选择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申请费 £60；接受 offer 后 28 天内需缴 £2,500 押金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城市宜居、生活成本低于伦敦，适合看重'学术声誉 + 性价比 + 生活体验'的申请者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https://www.business-school.ed.ac.uk/index.php/msc/business-analytics/apply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21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爱丁堡（2/3）：课程体系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课程方向（示例）：面向商业的分析、数据挖掘、仿真/运筹建模、预测方法等（具体模块以官网为准）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强调'数据→洞察→决策'的方法论训练，兼具统计严谨性与商业应用导向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选修模块可向特定行业（金融、营销、运营）延伸，适配个人职业方向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毕业项目/论文聚焦真实数据集与实际问题，是求职作品集的重要素材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2027 年模块清单尚未发布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https://www.business-school.ed.ac.uk/index.php/msc/business-analytics/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22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爱丁堡（3/3）：录取、费用与轮次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学术：UK 2:1 或同等，专业须为管理科学、运筹、统计、计量、数学、物理、计算机、工程，或含明显量化内容的商管专业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标准化：一般无需 GMAT（以官网为准）；语言按爱丁堡大学标准（通常总分 7.0 档位，以官网为准）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采用多轮筛选制：2026 年最终截止约 6 月 11 日，此后仅无签证需求的申请者可能被考虑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申请者按先到先得评估，项目满员即关闭——早申请显著占优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2027 年轮次与截止日期尚未公布，请订阅官网申请页更新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https://www.business-school.ed.ac.uk/index.php/msc/business-analytics/apply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2743200" cy="274320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C9A962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选校策略与申请准备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目标匹配 · 评分矩阵 · 准备优先级 · 时间线 · 风险对冲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24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按职业目标匹配四校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技术/量化路线→帝国理工：机器学习与 AI 含量最高、雇主最硬核（金融科技/量化岗），适合数理背景强、目标高薪技术岗的申请者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建模/运筹路线→爱丁堡：方法严谨、性价比高，适合想做建模方向或考虑在苏格兰发展的申请者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商业/咨询路线→UCL：伦敦品牌 + 管理学院资源，适合目标咨询、金融或互联网大厂商业分析岗的申请者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转专业/综合路线→华威：WBS 就业服务强、录取口径宽，适合商科/文科转数据、重视综合体验的申请者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核心原则：不是'谁排名高选谁'，而是'哪个项目的课程、地点、成本与我的目标和背景最匹配'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25 / 30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加权评分矩阵：把选校变成决策题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62895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步骤 1：确定维度——课程匹配度、学校声誉、地理位置/就业资源、总成本（学费+生活费）、录取概率、班级规模/校友网络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步骤 2：按个人目标分配权重（示例：就业资源 30%、课程匹配 25%、成本 20%、声誉 15%、录取概率 10%）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步骤 3：为每个项目按 1–5 分打分并加权求和；分差 ≤0.5 时以'直觉 + 实地感受'定取舍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录取概率权重常被低估：近两年四校申请量持续上升，早申请与背景匹配度是关键变量</a:t>
            </a:r>
          </a:p>
          <a:p>
            <a:pPr>
              <a:spcAft>
                <a:spcPts val="1000"/>
              </a:spcAft>
              <a:defRPr sz="1800">
                <a:solidFill>
                  <a:srgbClr val="2D2D2D"/>
                </a:solidFill>
                <a:latin typeface="Microsoft YaHei"/>
              </a:defRPr>
            </a:pPr>
            <a:r>
              <a:t>• 工具落地：Excel 或 Notion 建表即可，关键是权重透明、可复算、便于和家人/顾问讨论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2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17171"/>
                </a:solidFill>
                <a:latin typeface="Microsoft YaHei"/>
              </a:rPr>
              <a:t>来源: 方法论建议，结合四校录取节奏整理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26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三大准备优先级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Microsoft YaHei"/>
              </a:rPr>
              <a:t>学术与量化补强（第一优先级）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自学/重修微积分、概率统计、线性代数；掌握 Python（pandas/sklearn）与 SQL；用 Kaggle 或课程项目证明实操能力——这是四校共同的隐性门槛。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2A4A"/>
                </a:solidFill>
                <a:latin typeface="Microsoft YaHei"/>
              </a:rPr>
              <a:t>标化与语言（第二优先级）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雅思目标 7.0（单项 6.5+）；量化背景偏弱者尽早考 GMAT/GRE（帝国理工参考 90 分位）；注意成绩有效期（雅思 2 年、GMAT 5 年），倒排考试时间。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2057400"/>
            <a:ext cx="320040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2057400"/>
            <a:ext cx="32004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3317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2A4A"/>
                </a:solidFill>
                <a:latin typeface="Microsoft YaHei"/>
              </a:rPr>
              <a:t>经历与文书（第三优先级）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06324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积累 1–2 段数据相关实习/项目，用可量化成果说话（如'用 Python 建模使转化率 +15%'）；推荐信提前 2–3 个月联系导师或上司。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27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B2A4A"/>
                </a:solidFill>
                <a:latin typeface="Microsoft YaHei"/>
              </a:rPr>
              <a:t>2027 Fall 申请时间线（按 2026 节奏推算）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840480"/>
            <a:ext cx="9448495" cy="381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0160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2026.01–08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早期规划：核对四校官网、锁定目标；备考雅思与 GMAT/GRE；补量化课程并积累 1–2 段项目/实习</a:t>
            </a:r>
          </a:p>
        </p:txBody>
      </p:sp>
      <p:sp>
        <p:nvSpPr>
          <p:cNvPr id="10" name="Oval 9"/>
          <p:cNvSpPr/>
          <p:nvPr/>
        </p:nvSpPr>
        <p:spPr>
          <a:xfrm>
            <a:off x="3169859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9779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2026.09–11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9779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定稿冲刺：确定最终选校清单；撰写个人陈述初稿；联系推荐人；关注 2027 年学费与轮次发布</a:t>
            </a:r>
          </a:p>
        </p:txBody>
      </p:sp>
      <p:sp>
        <p:nvSpPr>
          <p:cNvPr id="13" name="Oval 12"/>
          <p:cNvSpPr/>
          <p:nvPr/>
        </p:nvSpPr>
        <p:spPr>
          <a:xfrm>
            <a:off x="5059558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478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2026.10–2027.01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9478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分批提交：优先赶各校早期轮次（帝国理工往年 1 月前、UCL 签证申请者 6 月底前）；确保材料完整、申请费缴纳</a:t>
            </a:r>
          </a:p>
        </p:txBody>
      </p:sp>
      <p:sp>
        <p:nvSpPr>
          <p:cNvPr id="16" name="Oval 15"/>
          <p:cNvSpPr/>
          <p:nvPr/>
        </p:nvSpPr>
        <p:spPr>
          <a:xfrm>
            <a:off x="6949257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177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2027.02–04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177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面试与等待：帝国理工等设在线面试；跟踪 offer/等待名单；及时补交材料、回应 offer</a:t>
            </a:r>
          </a:p>
        </p:txBody>
      </p:sp>
      <p:sp>
        <p:nvSpPr>
          <p:cNvPr id="19" name="Oval 18"/>
          <p:cNvSpPr/>
          <p:nvPr/>
        </p:nvSpPr>
        <p:spPr>
          <a:xfrm>
            <a:off x="8838956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8876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2027.04–06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876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决策与签证：比较 offer 决定去向并缴押金；换取 CAS；准备签证资金证明与肺结核检查</a:t>
            </a:r>
          </a:p>
        </p:txBody>
      </p:sp>
      <p:sp>
        <p:nvSpPr>
          <p:cNvPr id="22" name="Oval 21"/>
          <p:cNvSpPr/>
          <p:nvPr/>
        </p:nvSpPr>
        <p:spPr>
          <a:xfrm>
            <a:off x="10728655" y="3749040"/>
            <a:ext cx="182880" cy="182880"/>
          </a:xfrm>
          <a:prstGeom prst="ellipse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8575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9A962"/>
                </a:solidFill>
                <a:latin typeface="Microsoft YaHei"/>
              </a:rPr>
              <a:t>2027.07–09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88575" y="397764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Microsoft YaHei"/>
              </a:defRPr>
            </a:pPr>
            <a:r>
              <a:t>行前准备：申请宿舍（爱丁堡建议 7 月底前）、预订机票、参加行前说明会；2027 年具体日期以官网发布为准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28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B2A4A"/>
                </a:solidFill>
                <a:latin typeface="Microsoft YaHei"/>
              </a:rPr>
              <a:t>风险因素与应对策略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信息风险：2027 年学费、轮次、项目名称（如'BA &amp; AI'更名）均未发布，旧数据可能误导决策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竞争风险：申请量上升，热门项目可能出现 offer 延迟、满员即关、等待名单拉长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财务风险：英镑汇率波动、伦敦/爱丁堡生活成本上升、押金不可退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政策风险：签证与毕业生工签（Graduate Route）政策可能调整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057400"/>
            <a:ext cx="4846320" cy="3566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以官网为唯一权威：收藏各校项目页并设置提醒，轮次发布后两周内完成申请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构建梯度清单：冲刺（帝国理工）+ 匹配（UCL/华威）+ 保底（爱丁堡/加申项目），保底申请 1 月前提交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财务预案：预算上浮 10–15%，同步申请奖学金（帝国理工奖学金随轮次截止，早申请更有利）</a:t>
            </a:r>
          </a:p>
          <a:p>
            <a:pPr>
              <a:spcAft>
                <a:spcPts val="800"/>
              </a:spcAft>
              <a:defRPr sz="1400">
                <a:solidFill>
                  <a:srgbClr val="2D2D2D"/>
                </a:solidFill>
                <a:latin typeface="Microsoft YaHei"/>
              </a:defRPr>
            </a:pPr>
            <a:r>
              <a:t>• 语言成绩提前锁定，避免因补考错过轮次；关注签证政策官方更新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685800"/>
            <a:ext cx="22860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035040"/>
            <a:ext cx="103628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17171"/>
                </a:solidFill>
                <a:latin typeface="Microsoft YaHei"/>
              </a:rPr>
              <a:t>29 /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C9A962"/>
                </a:solidFill>
                <a:latin typeface="Microsoft YaHei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737360"/>
            <a:ext cx="9144000" cy="220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2D2D2D"/>
                </a:solidFill>
                <a:latin typeface="Microsoft YaHei"/>
              </a:rPr>
              <a:t>商业分析硕士的价值不在于'会写代码'，而在于能用数据讲清商业问题并推动决策落地——选校时请优先考察课程、就业资源与你的匹配度，而不是只看榜单。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20515"/>
            <a:ext cx="1828800" cy="381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303395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17171"/>
                </a:solidFill>
                <a:latin typeface="Microsoft YaHei"/>
              </a:rPr>
              <a:t>— 本讲座核心结论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760595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17171"/>
                </a:solidFill>
                <a:latin typeface="Microsoft YaHei"/>
              </a:rPr>
              <a:t>收束选校逻辑的一句话总结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2743200"/>
            <a:ext cx="2286000" cy="508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现在就开始你的 2027 申请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717171"/>
                </a:solidFill>
                <a:latin typeface="Microsoft YaHei"/>
              </a:rPr>
              <a:t>三步行动建议：① 本月建立'官网信息跟踪表'，订阅四校 2027 招生更新；② 按时间线倒排，先拿下语言成绩与量化基础；③ 用加权评分矩阵完成初步选校，保持冲刺—匹配—保底梯度。祝你 2027 Fall 收获理想 offer！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