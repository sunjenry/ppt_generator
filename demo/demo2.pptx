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3A5F"/>
                </a:solidFill>
                <a:latin typeface="Microsoft YaHei"/>
              </a:defRPr>
            </a:pPr>
            <a:r>
              <a:t>跨专业申请澳大利亚注册前护理硕士完整规划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66666"/>
                </a:solidFill>
                <a:latin typeface="Microsoft YaHei"/>
              </a:defRPr>
            </a:pPr>
            <a:r>
              <a:t>从零到注册护士：四校核验、决策框架与落地执行指南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澳洲护理行业：人才缺口、就业稳定性与移民路径优势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澳大利亚注册护士（RN）长期位列技术移民紧缺职业清单，各州持续开放州担保与雇主担保路径。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护理行业就业稳定性高，公立与私立医疗系统对RN需求呈结构性增长。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跨专业申请者通过注册前护理硕士（Pre-registration Master of Nursing）可在2年内完成学历转换，衔接毕业生工签与职业评估。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数据来源与预测模型存在年度更新，未来移民政策需以最新公告为准。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注册护士（RN）职业阶梯、主要执业领域与薪资预期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新注册护士起薪约为 AUD $72,000–$76,000；具备经验后 RN 平均薪资区间可达 AUD $82,500–$115,000。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主要执业领域包括急诊、重症监护、老年护理、心理健康、社区护理与手术室护理。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职业进阶路径：RN → 临床专科护士（CNS） → 护理 Practitioner 或管理岗位。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薪资与晋升数据随企业协议（EBA）与州属差异而波动，具体以雇主合同为准。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核验逻辑、议程设置与信息来源说明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本演示采用“四校核验”法：仅纳入墨尔本大学、悉尼大学、莫纳什大学、昆士兰大学公开可查的项目参数。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核心区分标准：注册前（Entry-to-practice / Pre-registration）项目允许非护理本科生毕业后申请 AHPRA 注册；注册后（Post-registration）项目则要求已有 RN 资格。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所有具体参数均标注信息来源与置信度；校方官网与 AHPRA 公告优先于第三方信息。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标注“To be verified”的内容表示官网数据存在冲突或待更新，需在申请季前复核。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学历路径：注册前护理硕士 → 毕业 → AHPRA 注册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阶段一：完成 NMBA/AHPRA 认证的注册前护理硕士（全日制通常 2 年）。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阶段二：毕业后向澳大利亚健康 Practitioner 监管局（AHPRA）提交注册申请，满足无犯罪、健康与英语合规要求。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阶段三：获得 Division 1（Registered Nurse）注册资格，进入公立或私立医疗系统执业。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部分州要求新毕业生完成过渡实践项目（Transition to Practice）或受监督实践期，具体要求以 NMBA 指南为准。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签证衔接：学生签证、毕业生工签与州担保路径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学生签证（Subclass 500）：覆盖整个硕士学制，需持有 COE 与 OSHC。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毕业生工签（Subclass 485）：护理硕士毕业生可申请 Post-Study Work stream，通常获签 2–3 年，用于积累执业经验。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职业评估与州担保：RN 属于 MLTSSL/STSOL 清单职业，可通过 ANMAC 职业评估后申请各州 190/491 州担保。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签证审理周期与移民配额受政策调整影响，建议每季度复核内政部最新指引。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临床实习安排、医院网络与毕业后首份工作获取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注册前硕士课程均包含强制临床实习（四校合计 800+ 小时），由大学与公立/私立医院网络联合安排。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实习科室通常涵盖内科、外科、急诊与社区护理，部分项目提供 rural placement 选项。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毕业后首份工作可通过实习医院留用、Graduate Nurse Program（GNP）或线上招聘平台获取。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临床实习名额受医院容量与地理分布限制，偏远地区实习机会相对充裕，但需提前规划住宿与交通。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研究方法：如何区分“注册前”与“注册后”项目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注册前（Entry-to-practice / Pre-registration）：面向非护理本科毕业生，课程结尾处包含向 AHPRA 推荐的注册资格，学制通常为 2 年全日制。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注册后（Post-registration）：面向已持有 RN 资格的护士，用于专科深造或晋升，毕业后不可直接首次注册。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核验要点：查看课程手册中的“Accreditation”章节，确认是否列明“approved program of study leading to registration as a registered nurse”。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四校筛选标准：仅保留在 AHPRA/NMBA 认证清单中明确标注为注册前路径的硕士项目。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墨尔本大学 Master of Nursing Science 核验与核心参数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项目名称：Master of Nursing Science（注册前路径）。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学制与实习：2 年全日制；第一年 320 小时临床实习，第二年 520 小时，合计 840 小时。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语言要求：IELTS 7.0（单项不低于 7.0）；TOEFL 94+（写作 27）；具备相关学历者可能豁免。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2025 intake 状态：2025 年入学申请尚未开放；下一个 intake 为 2026 年 2 月，申请截止日为 2026 年 9 月 30 日（To be verified）。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学费：2024–2025 学年每年 AUD 49,500–56,480。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悉尼大学 Master of Nursing (Graduate Entry) 核验与核心参数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项目名称：Master of Nursing (Graduate Entry)（注册前路径）。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学制与实习：2 年全日制；要求完成 840 小时临床实习。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语言要求：IELTS 6.5（单项不低于 6.0）；在英语国家完成中学教育者可申请豁免。项目具体语言门槛请以 Faculty of Medicine and Health 最新招生指南为准（To be verified）。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申请截止：2025 年入学轮次分别于 2025 年 6 月 7 日、2025 年 10 月 5 日及 2026 年 12 月 6 日关闭；申请于 2025 年 3 月 15 日开放。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学费：2024–2025 学年具体学费尚未公布；2026 年入学指示性年费为 AUD 51,300。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莫纳什大学 Master of Nursing Practice 核验与核心参数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项目名称：Master of Nursing Practice（注册前路径）。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学制与实习：最长完成时限可达 6 年；标准全日制学制通常为 2 年（需向校方核实）。临床实习每两周交替进行，具体总时数以手册为准。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语言要求：IELTS Academic 7.5（单项不低于 7.0）；在英语授课高等院校完成学业者可能豁免。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入学时间：2025 年设 2 月与 7 月双入学季，采用滚动录取，建议尽早申请。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学费：2024–2025 学年具体学费未明确披露；2026 年指示性年费为 AUD 5,500（数据疑似缺位，To be verified）。国际生实际学费通常远高于此，请直接咨询招生办公室。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昆士兰大学 Master of Nursing (Graduate Entry) 核验与核心参数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项目名称：Master of Nursing (Graduate Entry)（注册前路径）。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适用对象：面向非护理本科毕业生开放，2027 年 intake 已确认可用。部分数据源显示需护理/助产/言语病理学本科学位，存在冲突（To be verified）。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学制与实习：2 年全日制；含 840 小时临床实习。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语言要求：IELTS 7.0（总分）；接受 TOEFL iBT 与 PTE Academic，具体单项要求以官方页面为准。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入学时间：通常每年 2 月开学；采用滚动招生，无固定截止日期。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开学季与申请截止日期对比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墨尔本大学下一次入学为 2026 年 2 月，计划 2025 年入学者需考虑其他三校。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悉尼大学采用多轮制，首轮满位后可能提前关闭。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滚动录取制项目无明确安全线，建议在开学前 6–9 个月完成递交。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学术前置要求：先修课程、本科成绩与附加测试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莫纳什大学明确要求申请者完成人体生物学、解剖学或生理学先修课程。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墨尔本大学与悉尼大学对跨专业背景相对开放，但竞争激烈，实际录取均分通常高于最低门槛。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部分项目可能引入 CASPer 或面试，四校最新政策请在申请季前确认。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英语考试要求：IELTS、PTE、OET 分数门槛与有效期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悉尼大学招生手册显示 IELTS 6.5（单项 6.0），但护理项目通常要求 7.0；请以 Faculty 最新指引为准（To be verified）。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AHPRA 自 2025 年起调整英文标准：IELTS 写作最低分或降至 6.5；OET 新标准自 2026 年 4 月 23 日起生效。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所有英语成绩有效期通常为 2 年，以开课或注册日期为准，建议计算好考试节点。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非护理背景申请者的特殊要求：补充课程与相关经验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莫纳什大学明确要求人体生物学/解剖学/生理学先修课程，跨专业申请者需在本科阶段或通过在线补充课程完成。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墨尔本大学与悉尼大学未在公开信息中列明强制先修课，但具备生物学或健康相关背景可提升竞争力。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昆士兰大学先修要求存在数据源冲突：部分信息显示需护理/助产/言语病理学位，另一部分确认对非护理本科开放；务必在申请前直接邮件确认招生办公室。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护理相关志愿经历、护工（AIN/PCA）工作经验或医院见习可作为辅助材料，但不是四校的强制要求。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课程时长与强制临床实习小时数对比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墨尔本大学临床实习分两年递进，第二年强度显著提升。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莫纳什大学最长修业年限可达 6 年，标准全日制通常为 2 年；实习采用“在校-临床”双周交替模式。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所有项目实习时数均满足 NMBA 对注册前课程的基本要求。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2024–2025 学年学费、总学费与生活成本估算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墨尔本与悉尼生活成本显著高于布里斯班，但临床资源与毕业生网络更为集中。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莫纳什大学 2026 指示性年费 AUD 5,500 疑似数据缺位，国际生实际学费请直接向校方核实。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总成本应额外计入 OSHC、临床 Placement 交通与制服支出（详见后续章节）。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NMBA/AHPRA 课程认证状态与批准代码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墨尔本大学 Master of Nursing Science：AHPRA/NMBA 认证，毕业生可直接申请 Division 1 注册。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悉尼大学 Master of Nursing (Graduate Entry)：获 NMBA 认证并受 AHPRA 认可，具备 RN 注册资格。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莫纳什大学 Master of Nursing Practice：NMBA 认证且 AHPRA 认可，毕业生符合澳洲护士注册条件。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昆士兰大学 Master of Nursing (Graduate Entry)：AHPRA 批准并满足 NMBA 要求，毕业后可注册为 RN。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四校项目均列入 AHPRA 认证课程清单，但课程代码与认证更新日期请以 AHPRA 官方数据库实时查询为准。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毕业后向 AHPRA 申请注册：无犯罪、健康与英语合规路径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无犯罪记录：需提供澳洲或海外警察证明；任何刑事记录需提前披露并评估。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健康声明：满足 NMBA 健康标准，必要时提交体检报告与疫苗接种记录（如乙肝、百日咳、流感）。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英语能力：接受 IELTS、OET、PTE 等，需在注册时保持有效；2026 年 4 月起 OET 新标准生效。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新毕业生可能需完成过渡实践或受监督实践期，具体由 NMBA 监督执行。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注册审理周期已缩短至 1–6 个月（2025 年政策更新），但国际学生应预留充足时间。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选校决策框架：多维度评分卡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学术声誉与排名：墨尔本大学与悉尼大学全球排名领先，莫纳什与昆士兰亦稳居世界前 50–100。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地理位置与临床资源：墨尔本/悉尼医院网络密集，布里斯班生活成本较低；偏远地区校区可能附带移民加分。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班级规模与师生比：小班临床带教比例直接影响实习质量，建议查阅各校 Clinical Placement coordinator 配置。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认证安全性：四校均为 AHPRA 认证，无显著差异。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建议为每个家庭建立 1–5 分评分表，按权重（如学费 30%、排名 20%、城市 20%、实习 30%）量化打分。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家长关切因素：城市安全性、就业率与移民政策稳定性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城市安全性：墨尔本、悉尼、布里斯班均为国际学生主要目的地，治安水平总体良好，建议参考各州犯罪统计公报。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毕业生就业率：护理专业就业率维持高位，但 Graduate Nurse Program（GNP）竞争激烈，需提前在最后一学期投递简历。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移民政策稳定性：RN 长期位列技术职业清单，但州担保清单与邀请分数每季度调整，需关注 189/190/491 配额公告。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家庭成员陪读：学生签证可携带配偶与子女，配偶享有有限工作权利；需额外证明资金能力。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典型申请画像匹配：学术型、成本敏感型与快速就业型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高 GPA 学术型：优先墨尔本大学或悉尼大学，利用名校声誉与密集科研附属医院资源，目标进入大型公立医院 GNP。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成本敏感型：重点考虑昆士兰大学（学费相对可控）或莫纳什大学（双入学季可灵活规划），配合偏远地区生活降低成本。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快速就业型：选择最早可入学的项目（如悉尼大学 2025 年 2 月或莫纳什 2025 年 2 月），利用毕业生工签尽早积累执业经验并递交职业评估。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混合策略：若错过 2025 年 intake，墨尔本大学 2026 年 2 月可作为冲刺备选，期间完成英语考试与先修课。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18 个月滚动申请时间线：从选校到入境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T-18 至 T-12 个月：完成四校核验，确定冲刺/匹配/保底名单；启动 IELTS/PTE 备考。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T-12 至 T-9 个月：考取合格英语成绩，完成人体生物学补充课程（如申莫纳什）；准备成绩单、课程描述与推荐信。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T-9 至 T-6 个月：递交申请（注意轮次截止日期）；同步准备个人陈述（Statement of Purpose）。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T-6 至 T-3 个月：接收 Offer，缴纳押金换取 COE；购买 OSHC；准备签证材料（GTE 陈述、资金证明）。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T-3 至 T-0 个月：递交学生签证；安排住宿与机票；参加大学行前说明会；入境后参加 orientation。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关键材料准备：成绩单、课程描述、推荐信与个人陈述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成绩单与评分体系转换：需提供本科完整成绩单及百分制/4分制/GPA换算说明，建议提前做学信网或学校密封件认证。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课程描述（Course Descriptions）：跨专业申请者无需护理课程描述，但需提供本科学位课程大纲以证明学历层级。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推荐信：2 封学术或职业推荐信，需包含推荐人联系方式与正式抬头。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个人陈述：阐明跨专业动机、对护理职业的认知、临床观察或志愿经历，以及回澳/留澳职业规划（GTE 关联）。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所有非英文材料需附 NAATI 认证翻译件。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接受 Offer 后流程：押金、OSHC、住宿与行前清单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押金与 COE：按 Offer 指引缴纳学费押金（通常为 1 学期学费），大学发放 Confirmation of Enrolment（COE）。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OSHC 购买：必须覆盖整个学习周期，可通过大学团购或自行购买符合移民局要求的保险产品。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住宿安排：可选择校内宿舍、校外合租或寄宿家庭；建议抵澳前 4–6 周锁定，尤其是带厨房与停车位的房源。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行前准备：办理国际信用卡、准备临床 Placement 所需的警局检查与疫苗记录、购买专业制服与防滑鞋。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入境后事项：办理本地银行卡、税号（TFN）、手机卡与公共交通卡；参加大学国际学生 orientation。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总成本构成：学费、生活费、OSHC 与临床实习附加支出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临床 Placement 期间可能产生跨城市通勤或临时住宿费用，建议在预算中预留 10–15% 弹性空间。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资金证明需覆盖学费+生活费+OSHC，通常要求出示 30,000–40,000 AUD 以上的存款或贷款额度。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奖学金、助学金与在读期间合法打工收入测算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奖学金机会：国际生可申请各校 Faculty of Medicine and Health 的优秀学生奖学金或目的地项目奖学金（Destination Australia），金额通常为 5,000–15,000 AUD/年。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助学金与学费减免：部分州政府或大学提供护理紧缺领域补助，需单独查询 2025–2026 年度名额（Not yet published）。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合法打工：学生签证每两周最多工作 48 小时；假期无限制。护理相关兼职（如 AIN/PCA）时薪约 28–35 AUD，可部分覆盖生活费。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收入测算：按学期内每周 20 小时、假期全职计算，年收入约 20,000–30,000 AUD，可补贴生活费但难以覆盖全额学费。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主要风险与应对策略：学业、政策与家庭预案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学业风险：临床实习名额受医院容量限制，挂科或延期毕业可能导致学生签证过期。应对：维持良好学术进展（GPA 达标），提前与 Placement Office 沟通，购买签证中断保险。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政策风险：AHPRA 英文标准已出现 2025–2026 年调整信号（如 OET 新标准 2026 年 4 月生效），移民清单与签证审理周期亦可能波动。应对：在入学前持续监控 NMBA/AHPRA 与内政部公告，预留 6 个月政策缓冲期。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家庭风险：资金证明不足将影响签证获批；健康状况（如精神健康史、传染病）可能导致注册受阻。应对：提前进行预体检，准备充足资金流水与完税证明，必要时寻求注册移民代理与留学顾问协助。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应急预案：建立“Plan B”选校清单（如从墨尔本大学顺延至次季 intake 或切换至其他认证项目），并保留延长学生签证的经济储备。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总结与下一步行动：核心决策 Checklist 与 3 个月快速启动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核心决策 Checklist：☐ 确认目标项目为注册前（Entry-to-practice）路径；☐ 核对 AHPRA/NMBA 认证状态；☐ 比对语言成绩有效期与入学时间；☐ 完成人体生物学先修课（如申莫纳什）；☐ 核算两年总成本与资金来源。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3 个月快速启动计划（以 2026 年 2 月入学为例）：第 1 个月锁定四校官网最新招生手册并报名语言考试；第 2 个月完成学信网认证与推荐信邀约，起草个人陈述；第 3 个月递交首轮申请，同步准备资金证明与 OSHC 比价。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推荐资源：AHPRA 认证课程查询数据库、各大学 Master of Nursing 招生办公室邮箱、ANMAC 职业评估指南、内政部签证审理时间仪表盘。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跨专业申请澳洲注册前护理硕士是一条高确定性路径，关键在于“信息核实优先于盲目冲刺，时间冗余优先于卡点递交”。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