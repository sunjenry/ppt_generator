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7620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4114800"/>
            <a:ext cx="2286000" cy="2286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2027年英国硕士申请全流程规划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18288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latin typeface="Microsoft YaHei"/>
              </a:rPr>
              <a:t>为第一次准备申请的学生与家长定制 · 从自我评估到抵达校园的完整路线图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这场讲座将为你解决什么？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对象：第一次准备英国硕士申请的学生与家长，系统梳理2027年秋季入学的全流程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六大阶段：选专业选校 → 背景提升 → 材料准备 → 递交申请 → 录取与CAS → 签证与行前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澄清关键认知：英国硕士没有全国统一申请系统，多为滚动录取、先到先得，热门专业招满即止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强调早启动：2027年入学的规划应自2026年初开始，部分院校最早于2026年8月开放申请通道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全程配套实用工具：全景时间线、材料清单、费用对照表与逐月行动checklist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EIC 27Fall英国硕士申请全流程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第一部分 · 总体规划：2026–2027申请时间线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4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申请季全景时间线：2026年1月–2027年9月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840480"/>
            <a:ext cx="9448495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2026年1–6月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自我评估与选校选专业；稳住GPA、备考雅思/托福；启动实习或科研项目</a:t>
            </a:r>
          </a:p>
        </p:txBody>
      </p:sp>
      <p:sp>
        <p:nvSpPr>
          <p:cNvPr id="10" name="Oval 9"/>
          <p:cNvSpPr/>
          <p:nvPr/>
        </p:nvSpPr>
        <p:spPr>
          <a:xfrm>
            <a:off x="3169859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9779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2026年7–8月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9779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准备核心材料：简历、个人陈述初稿、联系推荐人；头部院校最早8月开放申请</a:t>
            </a:r>
          </a:p>
        </p:txBody>
      </p:sp>
      <p:sp>
        <p:nvSpPr>
          <p:cNvPr id="13" name="Oval 12"/>
          <p:cNvSpPr/>
          <p:nvPr/>
        </p:nvSpPr>
        <p:spPr>
          <a:xfrm>
            <a:off x="5059558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9478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2026年9–10月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478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多数院校10月前后开放申请（如牛津、剑桥、LSE等热门项目）；尽早递交抢占先机</a:t>
            </a:r>
          </a:p>
        </p:txBody>
      </p:sp>
      <p:sp>
        <p:nvSpPr>
          <p:cNvPr id="16" name="Oval 15"/>
          <p:cNvSpPr/>
          <p:nvPr/>
        </p:nvSpPr>
        <p:spPr>
          <a:xfrm>
            <a:off x="6949257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177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2026年10–12月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177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递交黄金高峰期；关注奖学金截止（通常早于普通申请截止）</a:t>
            </a:r>
          </a:p>
        </p:txBody>
      </p:sp>
      <p:sp>
        <p:nvSpPr>
          <p:cNvPr id="19" name="Oval 18"/>
          <p:cNvSpPr/>
          <p:nvPr/>
        </p:nvSpPr>
        <p:spPr>
          <a:xfrm>
            <a:off x="8838956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8876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2027年1–4月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8876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陆续收到录取结果；部分课程分批审核、持续发放至6月</a:t>
            </a:r>
          </a:p>
        </p:txBody>
      </p:sp>
      <p:sp>
        <p:nvSpPr>
          <p:cNvPr id="22" name="Oval 21"/>
          <p:cNvSpPr/>
          <p:nvPr/>
        </p:nvSpPr>
        <p:spPr>
          <a:xfrm>
            <a:off x="10728655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88575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2027年5–6月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确定院校、缴纳押金、满足offer全部条件；申请CAS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5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核心规则：滚动录取，先到先得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英国授课型硕士大多不设统一截止日，采用滚动录取（rolling admissions），热门专业招满即关闭通道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建议在入学前12个月（即前一年9月前后）完成递交；错过首轮，录取概率可能明显下降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各校开放时间不同：曼大商学院2026年9月入学批次于2025年10月13日开放；牛津Saïd商学院2027-28申请于2026年8月开放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奖学金截止通常早于普通截止：如LSE部分授课型硕士奖学金申请截止设在4月底之前，需单独跟踪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注意区分“无雅思可递交”与“无语言不录取”的项目规则，按目标院校要求制定语言考试计划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EIC 27Fall英国硕士申请全流程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6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第一步：自我评估——先认识自己，再选择方向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学术兴趣：回顾本科课程中最有成就感的方向，判断读硕是“深化本专业”还是“转换赛道”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职业目标：研究目标岗位的学历与技能要求，倒推专业选择（如金融、数据科学、教育等）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预算约束：学费（授课型硕士普遍约2万–4万英镑/年）+ 伦敦/非伦敦生活费差异 + 语言与签证成本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时间投入：一年制硕士节奏紧凑，确认自己适合授课型（taught）还是研究型（research）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用“兴趣×能力×市场”三角模型，把候选专业逐步缩小到3–5个，作为选校前提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英国文化教育协会硕士申请思路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7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如何系统研究一个专业？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看课程与模块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逐页阅读课程官网的必修/选修模块与考核方式，判断教学内容是否匹配你的目标；留意是否含毕业论文或实习模块。别只看专业名称就下结论。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看出路与就业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查看院系公布的毕业生去向、雇主合作与就业支持；在LinkedIn搜索该专业毕业生的职业轨迹，是最直接的行业参考。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考虑转换课程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想跨专业？很多院校开设conversion course（如计算机、商科、法律），不要求本科同背景，但需在个人陈述中清晰说明转专业动机与基础能力。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8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第二步：选校——多维比较，而不只看排名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排名参考：QS、THE、软科等榜单适合初筛院校梯队，但各榜单方法论差异大，切忌唯排名论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位置与成本：伦敦资源多但生活费高；非伦敦城市性价比高、学习氛围更集中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项目结构：学制（9/12个月）、课程强度、考试与论文比例、是否含实习机会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录取友好度：核对是否接受你的本科院校与均分、语言要求、专业背景限制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交叉验证：以大学官网“Entry Requirements”为唯一准绳，辅以HESA、Unistats等官方就业统计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QS/THE排名方法论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9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通用排名规则 vs 学校内部名单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QS、THE等排名基于学术声誉、雇主声誉、国际化等维度，适合全球院校横向比较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排名反映综合声誉，但不等于录取门槛，不构成任何录取决定的依据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可用于初步圈定“冲刺—匹配—保底”院校梯队，识别学科优势院校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许多英国大学对陆本设有内部“中国大学名单”（按985/211/双一流或软科排名区间划分），不同专业对应不同均分要求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参考基准：热门商科普遍要求985/211均分80+、双非85+，顶尖项目需88+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名单须以该校中国区招生页或Admissions官方说明为准，任何中介转述都需回到官网核实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第二部分 · 执行阶段：背景提升、材料准备与递交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11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第三步：背景提升的三大支柱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学术（GPA）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均分是英国录取最看重的硬指标，尤其大三核心课程。热门商科普遍要求985/211均分80+、双非85+，顶尖项目88+。重修低分课程前先评估成本与认可度。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Microsoft YaHei"/>
              </a:rPr>
              <a:t>语言（IELTS/TOEFL）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多数授课型硕士要求雅思总分6.5–7.0、单项不低于6.0–6.5；G5及文科、翻译、教育类专业常要求7.0以上。建议提前8–12个月备考并预留重考次数。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Microsoft YaHei"/>
              </a:rPr>
              <a:t>软实力（实习/科研/交换）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2–3段与专业相关的实习、助研或论文、海外交换经历，能显著增强个人陈述与面试的说服力。质量优先于数量，与申请方向相关的经历最加分。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12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语言成绩：主流要求6.5–7.0，单项同样重要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普遍区间：绝大多数授课型硕士要求雅思总分6.5–7.0；理工科多要求6.5，商科文科多要求7.0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单项门槛：很多项目对写作或口语设单项下限（6.0或6.5），总分达标但单项不够会被拒或只能进语言班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案例参考：斯特灵大学常见要求为总分6.0（单项5.5）至6.5（单项6.0）；G5及顶尖项目普遍7.0（单项6.5+）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接受度：绝大多数院校接受雅思、托福、PTE等；计划读语言班者需报考UKVI雅思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时效性：语言成绩有效期2年，需覆盖到入学时；语言班名额有限、截止通常早于主课，务必提前规划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University of Stirling语言要求官网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13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第四步：核心申请材料清单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简历（CV）：1–2页，突出学术与实习经历，按目标专业方向定制关键词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个人陈述（PS）：区分度最大的材料，结构要点见下页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推荐信：通常2封，优先学术推荐人；选择了解你、愿意花时间写细节的老师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成绩单与在读/学位证明：中英文对照、学校盖章；非英文文件需官方翻译件或公证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语言成绩单、护照复印件；金融经济类部分项目还需GRE/GMAT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各校申请材料checklist页面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14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个人陈述：讲清楚“为什么是你”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黄金结构：动机（为何选此方向）→ 经历（课程/实习/项目如何支撑）→ 匹配（为何选这所学校这个项目）→ 未来规划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针对性：每所学校单独改写，提及具体课程、教授研究方向或项目特色，切忌群发同一封PS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数据化表达：用“我主导了…、实现了…、提升了…”替代形容词堆砌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常见错误：开头模板化、复述简历内容、只讲“我能得到什么”而不讲“我能贡献什么”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时间管理：暑假完成初稿，9–10月逐校打磨，预留1–2周请导师或母语者润色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各校个人陈述写作指导页面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15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推荐信与成绩单：细节决定成败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通常需要2封，优先教授你核心课程、了解你学术潜力的老师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提前1–2个月联系推荐人，并提供简历、成绩单与目标专业信息，方便对方写出具体事例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注意提交方式：多数院校要求推荐人通过邮件链接在线提交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避免模板化套话，具体课程表现与项目经历比形容词更有说服力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中英文成绩单均需教务处盖章；英文版可由学校出具或由正规翻译机构公证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在读学生提供在读证明；毕业生提供学位证+毕业证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部分院校要求学信网（CHSI）英文认证或第三方公证，务必提前核查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成绩单的均分算法（加权/算术）建议在CV中注明，方便学校换算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16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学校附加材料：每一份都别漏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附加文书：部分项目要求小essay（动机陈述、奖学金陈述、职业规划），格式与字数严格按官网要求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作品集（Portfolio）：艺术、设计、建筑类专业必需，注意文件大小与提交平台规范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写作样本（Written Work）：人文社科项目可能要求提交论文节选，主题需与申请方向相关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面试：牛津、剑桥及部分商科项目设有面试（含Kira线上视频面试），需提前模拟训练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其他：ATAS认证（部分理工科专业需学术技术审批，周期长务必尽早）；部分院校录取后要求财产证明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各校专业页面附加材料要求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17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第五步：递交申请——渠道、费用与截止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渠道：绝大多数英国硕士通过大学官网自己的申请系统递交，没有全国统一的硕士申请平台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申请费：圣安德鲁斯£50、牛津£75、剑桥£75（部分专业£150）、帝国理工商学院£100、UCL管理学院£160；也有部分院校免费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截止类型：滚动录取（招满即止）与分轮次截止并存；2026年10月–2027年1月为递交黄金期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递交建议：早递交≠赶工，材料质量优先；热门专业建议在开放后1–2个月内完成递交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用Excel/Notion建立跟踪表：院校、项目、截止日、申请费、状态、材料清单逐项打勾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University of St Andrews申请费£50（官网）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18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三种申请截止模式对比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57400"/>
            <a:ext cx="259072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5123" y="2057400"/>
            <a:ext cx="259072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6563" y="210312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适用院校/项目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057400"/>
            <a:ext cx="259072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210312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截止方式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571" y="2057400"/>
            <a:ext cx="259072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011" y="210312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建议策略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5176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9748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滚动录取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5123" y="265176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6563" y="269748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多数英国大学授课型硕士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5847" y="265176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7287" y="269748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开放后先到先得，招满即止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571" y="265176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011" y="269748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尽早递交，开放后1–2个月内为最佳窗口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246120"/>
            <a:ext cx="259072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9184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分轮次截止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05123" y="3246120"/>
            <a:ext cx="259072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6563" y="329184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牛津、剑桥、LSE等热门项目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5847" y="3246120"/>
            <a:ext cx="259072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7287" y="329184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设多个截止轮次（如首轮10月中旬）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571" y="3246120"/>
            <a:ext cx="259072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011" y="329184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尽量赶首轮，录取机会更大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84048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88620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固定截止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05123" y="384048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6563" y="388620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部分院校设统一国际生截止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5847" y="384048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87287" y="388620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例：伯明翰2026年海外生截止7月17日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571" y="384048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011" y="388620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倒推准备时间，预留材料与签证余量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第三部分 · 决胜阶段：录取、押金、CAS与签证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20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第六步：读懂你的offer——有条件 vs 无条件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有条件录取（Conditional Offer）：常见条件包括雅思达标、本科最终均分达到X%、取得学位证等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无条件录取（Unconditional Offer）：所有条件已满足，可直接接受并进入缴纳押金环节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回应时限：offer会写明接受与押金截止日（如KCL规定3月前收到的offer需在3月20日前支付押金）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满足条件的途径：语言条件可用合格雅思/PTE或学校语言班成绩替代；均分条件需毕业时补交最终成绩单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常见误区：忽视条件细节导致CAS无法发放——务必逐条阅读offer letter中的conditions并标记deadline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King's College London押金政策页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21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如何比较多个offer并做出回应？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条件难度：剩余条件是否能在截止前满足（尤其语言与均分）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课程匹配度：模块设置、毕业论文主题与职业目标是否吻合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综合成本：学费+生活费+押金可退性，做全年预算表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就业资源：院系career service、雇主合作、校友网络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把每所学校的接受/押金/条件截止日统一标进日历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确定后及时在线接受offer并缴纳押金锁定席位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对不去的院校礼貌邮件回复decline，把名额让给候补学生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保留所有offer邮件、条件说明与缴费凭证以备核对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语言条件未达标者：立即评估语言班（pre-sessional）选项——语言班同样有名额与截止限制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22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第七步：押金——锁定席位的关键动作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押金金额因校而异：国际生常见£1,500–£2,000，如华威WMG海外生£1,500、伦敦玛丽女王大学与KCL为£2,000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押金通常不可退、不可转让（拒签等特定情形除外），支付前务必确认退款政策原文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截止日期严格：KCL规定3月前收到offer者须在3月20日前支付；伯明翰2026年入学押金截止为8月14日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押金会计入第一年学费总额，属于预付而非额外费用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支付渠道多为官网在线支付（信用卡/汇款），务必保留支付凭证，CAS申请阶段会用到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KCL学费与押金页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23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CAS：申请签证的“入场券”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CAS（Confirmation of Acceptance for Studies）：院校签发的电子确认函，含唯一CAS号码、个人与课程信息、担保方（sponsor）执照信息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发放前提：已接受offer、全部条件转为unconditional、缴纳押金；部分院校还要求预付部分学费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申请流程：多数学校满足条件后开放CAS申请，如圣安德鲁斯在信息确认后5个工作日内发放CAS号码，杜伦预CAS审核约需4周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CAS有效期6个月，学生签证申请必须在其有效期内递交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建议至少在签证预约前4–6周提交CAS申请，给学校审核与材料核对留足时间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University of St Andrews CAS指南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24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第八步：学生签证（Student Route）申请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适用：课程超过6个月（绝大多数硕士满足）；从境外线上申请，最早可在课程开始前6个月递交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签证费：标准学生签证£524（2025年4月9日起，境内外同价），priority加急另收费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IHS移民健康附加费：学生每年£776（2024年2月起标准），缴纳后享有与居民同等的NHS医疗服务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审理周期：境外标准审理约3周；7–8月高峰期建议尽早预约并预留缓冲时间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入境时间：课程6个月以上者，最早可在开课前1个月入境英国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University of Exeter签证申请指南（£524）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25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签证资金证明：必须覆盖学费 + 生活费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57400"/>
            <a:ext cx="50800" cy="356616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828800"/>
            <a:ext cx="2743200" cy="2743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331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700" b="1">
                <a:solidFill>
                  <a:srgbClr val="C9A962"/>
                </a:solidFill>
                <a:latin typeface="Microsoft YaHei"/>
              </a:rPr>
              <a:t>£1,483 /月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20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1"/>
                </a:solidFill>
                <a:latin typeface="Microsoft YaHei"/>
              </a:rPr>
              <a:t>伦敦地区生活费证明标准（2025年1月2日起生效）；非伦敦为每月£1,136。需按9个月计算（伦敦约£13,347）并加上第一年学费，存款须存满28天。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434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Microsoft YaHei"/>
              </a:rPr>
              <a:t>用醒目数字提醒家长资金规划；注：旧标准£1,334/£1,023已于2025年1月2日被新标准取代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26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签证材料清单与两类规则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CAS号码及课程信息（自CAS信获取）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资金证明：存满28天的银行存款证明或流水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有效护照；适用者需肺结核（TB）检测证书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学历学位材料与语言成绩（按UKVI要求）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由家长资助者：需额外提供关系证明与资助声明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通用规则（UKVI全国统一）：签证费、IHS、资金金额与28天存期、TB检测名单等，以gov.uk为准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院校建议（各校国际办公室）：CAS申请流程、押金与预付要求、存款币种建议、签证材料核对服务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两者冲突时以gov.uk官方规则为准；操作细节可咨询目标大学的国际学生团队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中国居民赴英超过6个月需做肺结核检测（gov.uk列名国家），证书6个月有效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27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第九步：行前准备三件事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住宿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大学宿舍（halls）安全便利但名额有限，伦敦等热门城市需尽早申请；校外租房要核实合同、押金保护计划与通勤距离。各校Accommodation官网会公布开放与截止日期。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医疗与保险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IHS已涵盖NHS基本医疗服务，抵英后尽快注册GP诊所；可自选补充商业保险覆盖牙科、配镜与贵重物品。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航班与注册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拿到签证后再订机票，注意最早入境日限制；确认学校是否提供接机服务；到校后完成线上enrolment，并携带学位证、成绩单、语言成绩原件供核验。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28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常见误区 vs 实用建议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等到大三结束、成绩定型后才开始规划，错过背景提升黄金期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同一封PS群发给所有学校，匹配度骤降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忽视offer条件细节，导致CAS与签证受阻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资金证明存期不足28天，签证被拒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迷信中介“内部名单”，不与学校官方核实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从2026年初锁定目标与时间表，按月设定小目标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所有材料暑假前完成初稿，9月开学后集中打磨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建立逐校清单：条件、截止、费用一目了然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语言与均分双线并行，语言班作为Plan B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不确定时直接邮件咨询大学Admissions或国际办公室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29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C9A962"/>
                </a:solidFill>
                <a:latin typeface="Microsoft YaHei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9144000" cy="2200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D2D2D"/>
                </a:solidFill>
                <a:latin typeface="Microsoft YaHei"/>
              </a:rPr>
              <a:t>英国硕士申请是一场“先到先得”的长跑——早规划就多一个选择，晚启动就多一分焦虑。每个家庭节奏不同，但只要按时间线稳步推进，结果会自然到来。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120515"/>
            <a:ext cx="18288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303395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1"/>
                </a:solidFill>
                <a:latin typeface="Microsoft YaHei"/>
              </a:rPr>
              <a:t>— 给2027届申请家庭的提醒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760595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1"/>
                </a:solidFill>
                <a:latin typeface="Microsoft YaHei"/>
              </a:rPr>
              <a:t>收束全篇的箴言，缓解焦虑、强调行动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2860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出发吧！2027，英国见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1"/>
                </a:solidFill>
                <a:latin typeface="Microsoft YaHei"/>
              </a:rPr>
              <a:t>十个月关键里程碑回顾：2026上半年自我评估与背景提升 → 暑假完成材料 → 9–10月尽早递交 → 2027上半年收获offer、缴纳押金、满足全部条件 → 5–6月申请CAS → 7–8月完成签证 → 9月抵达英国。请与家人对照清单逐项打勾：选校定位 ✔ 均分与语言 ✔ 材料齐备 ✔ 申请递交 ✔ 押金与CAS ✔ 签证到手 ✔ 行前就绪 ✔。祝每位同学顺利拿到心仪offer，开启精彩的英国…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