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E3A5F"/>
                </a:solidFill>
                <a:latin typeface="Microsoft YaHei"/>
              </a:defRPr>
            </a:pPr>
            <a:r>
              <a:t>澳大利亚和新西兰数据科学硕士：选择与申请规划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666666"/>
                </a:solidFill>
                <a:latin typeface="Microsoft YaHei"/>
              </a:defRPr>
            </a:pPr>
            <a:r>
              <a:t>A Strategic Guide for STEM Undergraduates Navigating Two Destinations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5F"/>
                </a:solidFill>
                <a:latin typeface="Microsoft YaHei"/>
              </a:defRPr>
            </a:pPr>
            <a:r>
              <a:t>Today's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Frame the dilemma: choosing between Australia and New Zealand with a STEM background but no fixed destination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Map the regional landscape: academic models, living environments, and tech job markets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Verify three Australian and three New Zealand programs with concrete tuition, deadlines, and entry criteria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Build your decision framework: career, migration, and budget priorities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Deliver an 18-month application timeline, budget benchmarks, and a risk-aware action checklist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5F"/>
                </a:solidFill>
                <a:latin typeface="Microsoft YaHei"/>
              </a:defRPr>
            </a:pPr>
            <a:r>
              <a:t>The Familiar Dilemma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You have a strong STEM foundation but no clear destination for a Data Science master's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Australia and New Zealand both offer reputable programs, post-study work rights, and high quality of life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The choice is not just about rankings—it involves academic culture, cost, migration policy, and employability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This presentation replaces guesswork with verified program data and a structured decision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5F"/>
                </a:solidFill>
                <a:latin typeface="Microsoft YaHei"/>
              </a:defRPr>
            </a:pPr>
            <a:r>
              <a:t>Data Science Demand Across Oceania &amp; APAC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Data science roles continue to grow across Oceania and the broader APAC region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Australia's education system is characterized by large research-intensive Group of Eight universities and strong industry links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New Zealand's system emphasizes applied learning, close industry collaboration, and a smaller but agile tech market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Typical program tracks: coursework-intensive, research-thesis, and capstone/project-based pathways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5F"/>
                </a:solidFill>
                <a:latin typeface="Microsoft YaHei"/>
              </a:defRPr>
            </a:pPr>
            <a:r>
              <a:t>Typical Program Structures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Coursework-intensive: structured subjects in statistics, machine learning, and programming; fastest path to graduation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Research-thesis track: substantial independent research component; preferred for PhD pathways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Capstone/project-based: industry or simulated consultancy project; emphasizes portfolio building and employability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Some programs allow early exit with a Graduate Certificate or Diploma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5F"/>
                </a:solidFill>
                <a:latin typeface="Microsoft YaHei"/>
              </a:defRPr>
            </a:pPr>
            <a:r>
              <a:t>Academic Calendars: Semester vs. Trimester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Most Australian universities operate on a two-semester model (Semester 1: February/March; Semester 2: July)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Some Australian institutions offer trimesters, enabling faster progression but shorter breaks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New Zealand universities generally use semesters, though select programs run on trimesters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Calendar choice affects internship timing, course load intensity, and graduation alignment with recruitment cycles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5F"/>
                </a:solidFill>
                <a:latin typeface="Microsoft YaHei"/>
              </a:defRPr>
            </a:pPr>
            <a:r>
              <a:t>Teaching Culture &amp; Learning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Industry project integration is common: students solve real business problems with partner organizations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Studio-based and team-based learning mirrors modern data science workflows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Research opportunities exist even in coursework degrees through electives, capstones, and faculty collaborations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Class sizes and access to supervisors can differ: Australia tends toward larger cohorts; New Zealand toward closer staff-to-student ratios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5F"/>
                </a:solidFill>
                <a:latin typeface="Microsoft YaHei"/>
              </a:defRPr>
            </a:pPr>
            <a:r>
              <a:t>Living Costs, Climate &amp;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Australia: monthly living costs estimated at AUD 2,800–4,200 in Sydney (2026)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New Zealand: monthly living costs estimated at NZD 1,600–2,500 in Auckland (2026)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Australia offers warmer climates and large metropolitan hubs; New Zealand offers temperate weather and compact, walkable cities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Both countries rank highly on safety indices, but cost of living and housing availability vary significantly by city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5F"/>
                </a:solidFill>
                <a:latin typeface="Microsoft YaHei"/>
              </a:defRPr>
            </a:pPr>
            <a:r>
              <a:t>Australian Tech Hubs: Sydney, Melbourne, Brisbane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Sydney: largest financial services and tech market; strong demand for analytics, fintech, and AI roles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Melbourne: diverse economy with growing health-tech, ed-tech, and government analytics sectors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Brisbane: emerging hub with lower living costs than Sydney/Melbourne and increasing investment in data infrastructure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Competition for entry-level roles is high; local internships and industry projects improve placement rates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5F"/>
                </a:solidFill>
                <a:latin typeface="Microsoft YaHei"/>
              </a:defRPr>
            </a:pPr>
            <a:r>
              <a:t>New Zealand Tech Ecosystem: Auckland, Wellington, Christchurch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Auckland: largest tech market with demand across SaaS, logistics, and business intelligence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Wellington: capital-city concentration of government, policy, and analytics roles; strong public-sector data maturity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Christchurch: growing Canterbury tech corridor with applied data science in agri-tech, environmental, and health sectors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The market is smaller than Australia's, which can mean fewer openings but also less saturation for niche skill sets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5F"/>
                </a:solidFill>
                <a:latin typeface="Microsoft YaHei"/>
              </a:defRPr>
            </a:pPr>
            <a:r>
              <a:t>Post-Study Work Policies: Australia vs. New Zealand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Australia Temporary Graduate Visa (Subclass 485): up to 3 years for Master's graduates; age limit 35; application fee AUD 5,750 as of 2026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New Zealand Post-Study Work Visa: up to 3 years for Master's graduates who studied full-time for at least 30 weeks at Level 7 or higher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New Zealand offers a pathway from post-study work to Skilled Migrant Category residency (from 2026, SMC requires two years of NZ work experience)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Both visas allow open work rights, but eligibility rules, age limits, and pathways to permanent residency differ materially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5F"/>
                </a:solidFill>
                <a:latin typeface="Microsoft YaHei"/>
              </a:defRPr>
            </a:pPr>
            <a:r>
              <a:t>University of Melbourne: Master of Data Science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Duration: 24 months full-time (48 months part-time)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Core curriculum: statistics, programming, machine learning; electives in data analytics and data engineering; capstone or research thesis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Tuition: AUD 60,884 per year; total approximately AUD 121,768 for the full program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English requirement: IELTS 6.5 overall with no band below 6.0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Deadlines reported: Semester 1 — 31 August 2026; Semester 2 — 31 May 2026 (To be verified against the official handbook for calendar-year consistency)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5F"/>
                </a:solidFill>
                <a:latin typeface="Microsoft YaHei"/>
              </a:defRPr>
            </a:pPr>
            <a:r>
              <a:t>UNSW: Master of Data Science and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Duration: 2 years full-time with early exit options (Graduate Certificate / Diploma)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Balance: integrated coursework and research component focusing on practical skills and theoretical foundations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Tuition: total program fee AUD 128,000 for international students in 2026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English requirement: IELTS 6.5 overall (minimum 6.0 per band) or TOEFL iBT 90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Deadline: Term 1 2026 — 29 January 2026; Term 2 2026 intake not available for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5F"/>
                </a:solidFill>
                <a:latin typeface="Microsoft YaHei"/>
              </a:defRPr>
            </a:pPr>
            <a:r>
              <a:t>Monash University: Master of Data Science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Duration: 2 years full-time (4 years part-time)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Capstone: choice between an industry experience project with a real company or a research thesis (requires high average in Level 5 units)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Tuition: AUD 52,900 per year for international students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English requirement: IELTS 6.5 or TOEFL iBT 79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Deadlines reported: Semester 1 — 18 December 2026; Semester 2 — 29 May 2027 (To be verified for exact cycle alignment)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5F"/>
                </a:solidFill>
                <a:latin typeface="Microsoft YaHei"/>
              </a:defRPr>
            </a:pPr>
            <a:r>
              <a:t>Australian Programs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Comparative summary of verified program data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5F"/>
                </a:solidFill>
                <a:latin typeface="Microsoft YaHei"/>
              </a:defRPr>
            </a:pPr>
            <a:r>
              <a:t>University of Auckland: Master of Data Science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Structure: 180-point or 240-point taught Master's; 240-point program is March intake only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Research component: includes a research thesis as part of the Master of Science (MSc) structure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Tuition: NZ$55,214–$55,484 per year (2026)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English requirement: IELTS 6.5 overall with no band below 6.0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Deadlines: Semester One — 8 December 2025; Semester Two — 8 June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5F"/>
                </a:solidFill>
                <a:latin typeface="Microsoft YaHei"/>
              </a:defRPr>
            </a:pPr>
            <a:r>
              <a:t>University of Canterbury: Master of Applied Data Science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Duration: 1.5 years full-time (3 years part-time; must complete within 5 years)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Applied focus: includes an applied research project and an industry project with real-world data science partners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Links to the Canterbury tech corridor, particularly in environmental, agritech, and health analytics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Tuition: NZ$56,850 total for the 180-point program (2026)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Deadline reported: 23 March 2026 for 2026 start (To be verified given typical February intake schedules)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5F"/>
                </a:solidFill>
                <a:latin typeface="Microsoft YaHei"/>
              </a:defRPr>
            </a:pPr>
            <a:r>
              <a:t>Victoria University of Wellington: Master of Data Science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Duration: 5–6 trimesters standard; accelerated options may apply for eligible international students (To be verified)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Focus areas: machine learning and big data analytics; preparation for consultancy, government, and private sector roles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Tuition: NZD 28,000–41,000 per year; approximate annual cost around NZD 45,450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English requirement: IELTS 6.5 overall (no band less than 6.0); TOEFL 90; PTE 58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Deadline reported: 7 December 2026 for Trimester 1 (To be verified)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5F"/>
                </a:solidFill>
                <a:latin typeface="Microsoft YaHei"/>
              </a:defRPr>
            </a:pPr>
            <a:r>
              <a:t>New Zealand Programs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Comparative summary of verified program data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5F"/>
                </a:solidFill>
                <a:latin typeface="Microsoft YaHei"/>
              </a:defRPr>
            </a:pPr>
            <a:r>
              <a:t>Program &amp; Country Selection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Evaluate across five dimensions: career ambition, budget, migration intent, ranking preference, and location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Academic reputation vs. employability vs. lifestyle fit: assign personal weights before comparing programs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No single 'best' program—only the best fit for your risk tolerance and long-term goals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Use the verified tuition, visa duration, and city labor market data from prior slides as objective anchors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5F"/>
                </a:solidFill>
                <a:latin typeface="Microsoft YaHei"/>
              </a:defRPr>
            </a:pPr>
            <a:r>
              <a:t>Three Archetype Pathways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Research / PhD Track: prioritize thesis options, faculty alignment, and research funding; Australia and Auckland offer strong pathways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Industry Job Track: prioritize capstones, internships, and proximity to tech hubs; consider Melbourne, Sydney, or Auckland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Migration Settlement Track: prioritize post-study work duration, regional incentives, and skilled residency pathways; compare subclass 485 with New Zealand's Skilled Migrant Category requirements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Match your archetype to the program structure and country policy profile that best supports it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5F"/>
                </a:solidFill>
                <a:latin typeface="Microsoft YaHei"/>
              </a:defRPr>
            </a:pPr>
            <a:r>
              <a:t>Standard Application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Transcripts and degree certificates from your STEM undergraduate program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Curriculum Vitae highlighting quantitative coursework, coding experience, and any research or internships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Statement of Purpose explaining the pivot to data science and why the specific country/program fits your goals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Two recommendation letters, preferably from faculty who can attest to technical or analytical ability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English proficiency test scores (IELTS or TOEFL) sent directly from the testing agency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5F"/>
                </a:solidFill>
                <a:latin typeface="Microsoft YaHei"/>
              </a:defRPr>
            </a:pPr>
            <a:r>
              <a:t>Rolling vs. Fixed Admissions &amp; Intake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Australia: Semester 1 (February/March) and Semester 2 (July) are standard; some universities offer trimester starts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New Zealand: predominantly Semester 1 (March) and Semester 2 (July), with select trimester intakes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Fixed deadlines apply to most international applications, but popular programs can fill before the deadline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Map your preferred start date backward by at least 6–9 months for test scheduling, document preparation, and visa processing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5F"/>
                </a:solidFill>
                <a:latin typeface="Microsoft YaHei"/>
              </a:defRPr>
            </a:pPr>
            <a:r>
              <a:t>Leveraging a STEM Background Without DS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Emphasize transferable quantitative skills: linear algebra, probability, programming, and scientific methodology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Document any projects involving data cleaning, visualization, modeling, or statistical analysis—even if informal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Enroll in short online certificates in Python, SQL, or machine learning to strengthen your SOP and CV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In your Statement of Purpose, explicitly bridge your discipline to data science outcomes in your target industry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5F"/>
                </a:solidFill>
                <a:latin typeface="Microsoft YaHei"/>
              </a:defRPr>
            </a:pPr>
            <a:r>
              <a:t>Budget Overview: Tuition &amp; Living Costs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Australia total tuition: roughly AUD 105,000–128,000 for a two-year Master's among the selected programs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New Zealand total tuition: roughly NZD 56,000–110,000 depending on program length and point structure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Student visa financial proof: Australia requires at least AUD 29,710 per year for living costs; New Zealand requires NZD 20,000 per year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Living costs vary by city: Sydney and Melbourne are higher than Brisbane; Auckland and Wellington differ from Christchurch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5F"/>
                </a:solidFill>
                <a:latin typeface="Microsoft YaHei"/>
              </a:defRPr>
            </a:pPr>
            <a:r>
              <a:t>Scholarships &amp; Funding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University-specific merit scholarships: competitive; often require early application and strong academic records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External databases: ExploreStudy Australia, Education New Zealand, and faculty-specific grant portals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Graduate assistantships: more readily available in research-intensive or thesis-based tracks; typically cover partial tuition and provide a stipend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Country-specific scholarships: Australia Awards and New Zealand International Student Scholarships (check eligibility windows annually)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5F"/>
                </a:solidFill>
                <a:latin typeface="Microsoft YaHei"/>
              </a:defRPr>
            </a:pPr>
            <a:r>
              <a:t>The 18-Month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Months 18–12: Research programs, take English tests, and define your archetype pathway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Months 12–6: Finalize shortlist, draft SOP and CV, request recommendation letters, and submit applications before fixed deadlines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Months 6–3: Receive offers, compare funding packages, accept place, and lodge student visa + OSHC (Australia) or NZ student visa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Months 3–0: Secure accommodation, open a local bank account, complete enrollment, attend orientation, and book travel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5F"/>
                </a:solidFill>
                <a:latin typeface="Microsoft YaHei"/>
              </a:defRPr>
            </a:pPr>
            <a:r>
              <a:t>Visa &amp; Pre-Departure Logistics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Australia: apply for student visa (Subclass 500) with Confirmation of Enrolment (CoE); purchase Overseas Student Health Cover (OSHC) before visa grant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New Zealand: apply for a student visa with proof of full-time offer, NZD 20,000 living funds, and health/travel insurance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Accommodation: university halls, private rentals, or homestay; book temporary housing before arrival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Banking and phone: set up accounts and numbers early to facilitate part-time work and daily transactions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5F"/>
                </a:solidFill>
                <a:latin typeface="Microsoft YaHei"/>
              </a:defRPr>
            </a:pPr>
            <a:r>
              <a:t>Risk Analysis &amp; Plan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Policy volatility: Australia's Subclass 485 and New Zealand's Skilled Migrant Category rules have changed recently; monitor official immigration updates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Market risks: entry-level data science roles are competitive; automation may reshape junior analyst demand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Backup plans: apply to multiple intakes, consider related programs (Business Analytics, Statistics, AI) if data science quotas fill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PhD pathway: a research-based Master's with a strong thesis can serve as a direct pathway to doctoral funding in either country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5F"/>
                </a:solidFill>
                <a:latin typeface="Microsoft YaHei"/>
              </a:defRPr>
            </a:pPr>
            <a:r>
              <a:t>Actionable Next Steps &amp; 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Verify the latest deadlines and fees directly on official university websites before applying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Book your IELTS or TOEFL test at least 3 months before your earliest deadline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Calculate total cost of attendance including tuition, living proof, visa fees, and health cover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Choose your archetype pathway (Research, Industry, or Migration) and weight your priorities accordingly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Prepare a contingency plan with alternative programs and intakes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