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0" y="0"/>
            <a:ext cx="76200" cy="68580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029200" y="4114800"/>
            <a:ext cx="2286000" cy="228600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5943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演示模板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114800"/>
            <a:ext cx="18288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CCCCC"/>
                </a:solidFill>
                <a:latin typeface="Microsoft YaHei"/>
              </a:rPr>
              <a:t>PPT Generator — 专业演示文稿自动生成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502920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t>基于 DeepSeek 大模型 + 设计系统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508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2743200" cy="2743200"/>
          </a:xfrm>
          <a:prstGeom prst="ellipse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C9A962"/>
                </a:solidFill>
                <a:latin typeface="Microsoft YaHe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项目背景与市场分析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17171"/>
                </a:solidFill>
                <a:latin typeface="Microsoft YaHei"/>
              </a:rPr>
              <a:t>了解行业现状与核心驱动因素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3 / 11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项目背景与市场分析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核心发现概览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1036289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市场规模：2026年全球市场规模达到 450亿美元，年复合增长率 12.3%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技术趋势：AI 原生应用成为主流，大模型驱动的自动化工具增长迅速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竞争格局：头部企业占据 35% 市场份额，中小型创新企业活跃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用户需求：企业客户对一站式解决方案的需求持续上升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394960"/>
            <a:ext cx="103628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17171"/>
                </a:solidFill>
                <a:latin typeface="Microsoft YaHei"/>
              </a:rPr>
              <a:t>来源: 数据来源：Gartner 2026 Market Report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项目背景与市场分析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4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优势与挑战对比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286000"/>
            <a:ext cx="4846320" cy="333756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468880"/>
            <a:ext cx="429768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技术领先：自研模型推理引擎</a:t>
            </a:r>
          </a:p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成本可控：单次生成成本 ¥0.10 以内</a:t>
            </a:r>
          </a:p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快速迭代：3天开发周期</a:t>
            </a:r>
          </a:p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生态兼容：支持多种 LLM 后端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286000"/>
            <a:ext cx="4846320" cy="333756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2468880"/>
            <a:ext cx="429768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品牌认知度不足</a:t>
            </a:r>
          </a:p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需要持续优化模板美观度</a:t>
            </a:r>
          </a:p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大模型输出稳定性仍需提升</a:t>
            </a:r>
          </a:p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竞品价格战压力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5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三大核心能力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286000"/>
            <a:ext cx="3200400" cy="333756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286000"/>
            <a:ext cx="3200400" cy="508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5603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B2A4A"/>
                </a:solidFill>
                <a:latin typeface="Microsoft YaHei"/>
              </a:rPr>
              <a:t>智能内容规划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291840"/>
            <a:ext cx="27432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D2D2D"/>
                </a:solidFill>
                <a:latin typeface="Microsoft YaHei"/>
              </a:defRPr>
            </a:pPr>
            <a:r>
              <a:t>基于主题自动生成叙事大纲，保证 25-30 页连贯内容，融合网络搜索核验事实。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286000"/>
            <a:ext cx="3200400" cy="333756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2286000"/>
            <a:ext cx="3200400" cy="508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5603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B2A4A"/>
                </a:solidFill>
                <a:latin typeface="Microsoft YaHei"/>
              </a:rPr>
              <a:t>专业视觉设计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291840"/>
            <a:ext cx="27432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D2D2D"/>
                </a:solidFill>
                <a:latin typeface="Microsoft YaHei"/>
              </a:defRPr>
            </a:pPr>
            <a:r>
              <a:t>10 种商务布局，统一设计系统，深蓝+金色配色方案，支持封面、时间线、对比表等。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2286000"/>
            <a:ext cx="3200400" cy="333756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55280" y="2286000"/>
            <a:ext cx="3200400" cy="508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25603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B2A4A"/>
                </a:solidFill>
                <a:latin typeface="Microsoft YaHei"/>
              </a:rPr>
              <a:t>高效低成本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3291840"/>
            <a:ext cx="27432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D2D2D"/>
                </a:solidFill>
                <a:latin typeface="Microsoft YaHei"/>
              </a:defRPr>
            </a:pPr>
            <a:r>
              <a:t>平均 30 秒生成一页，单页成本 ¥0.02 以内，全自动流程无需人工干预。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508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2743200" cy="2743200"/>
          </a:xfrm>
          <a:prstGeom prst="ellipse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C9A962"/>
                </a:solidFill>
                <a:latin typeface="Microsoft YaHe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实施路线图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17171"/>
                </a:solidFill>
                <a:latin typeface="Microsoft YaHei"/>
              </a:rPr>
              <a:t>从规划到交付的完整路径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实施路线图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7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项目关键里程碑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954780"/>
            <a:ext cx="9448495" cy="381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80160" y="3863340"/>
            <a:ext cx="182880" cy="182880"/>
          </a:xfrm>
          <a:prstGeom prst="ellipse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4518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9A962"/>
                </a:solidFill>
                <a:latin typeface="Microsoft YaHei"/>
              </a:rPr>
              <a:t>2026.Q3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91940"/>
            <a:ext cx="1463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D2D2D"/>
                </a:solidFill>
                <a:latin typeface="Microsoft YaHei"/>
              </a:defRPr>
            </a:pPr>
            <a:r>
              <a:t>需求分析与技术选型</a:t>
            </a:r>
          </a:p>
        </p:txBody>
      </p:sp>
      <p:sp>
        <p:nvSpPr>
          <p:cNvPr id="11" name="Oval 10"/>
          <p:cNvSpPr/>
          <p:nvPr/>
        </p:nvSpPr>
        <p:spPr>
          <a:xfrm>
            <a:off x="3642283" y="3863340"/>
            <a:ext cx="182880" cy="182880"/>
          </a:xfrm>
          <a:prstGeom prst="ellipse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02203" y="34518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9A962"/>
                </a:solidFill>
                <a:latin typeface="Microsoft YaHei"/>
              </a:rPr>
              <a:t>2026.Q4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2203" y="4091940"/>
            <a:ext cx="1463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D2D2D"/>
                </a:solidFill>
                <a:latin typeface="Microsoft YaHei"/>
              </a:defRPr>
            </a:pPr>
            <a:r>
              <a:t>核心管道开发</a:t>
            </a:r>
          </a:p>
        </p:txBody>
      </p:sp>
      <p:sp>
        <p:nvSpPr>
          <p:cNvPr id="14" name="Oval 13"/>
          <p:cNvSpPr/>
          <p:nvPr/>
        </p:nvSpPr>
        <p:spPr>
          <a:xfrm>
            <a:off x="6004407" y="3863340"/>
            <a:ext cx="182880" cy="182880"/>
          </a:xfrm>
          <a:prstGeom prst="ellipse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64327" y="34518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9A962"/>
                </a:solidFill>
                <a:latin typeface="Microsoft YaHei"/>
              </a:rPr>
              <a:t>2027.Q1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64327" y="4091940"/>
            <a:ext cx="1463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D2D2D"/>
                </a:solidFill>
                <a:latin typeface="Microsoft YaHei"/>
              </a:defRPr>
            </a:pPr>
            <a:r>
              <a:t>模板系统重构</a:t>
            </a:r>
          </a:p>
        </p:txBody>
      </p:sp>
      <p:sp>
        <p:nvSpPr>
          <p:cNvPr id="17" name="Oval 16"/>
          <p:cNvSpPr/>
          <p:nvPr/>
        </p:nvSpPr>
        <p:spPr>
          <a:xfrm>
            <a:off x="8366531" y="3863340"/>
            <a:ext cx="182880" cy="182880"/>
          </a:xfrm>
          <a:prstGeom prst="ellipse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451" y="34518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9A962"/>
                </a:solidFill>
                <a:latin typeface="Microsoft YaHei"/>
              </a:rPr>
              <a:t>2027.Q2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451" y="4091940"/>
            <a:ext cx="1463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D2D2D"/>
                </a:solidFill>
                <a:latin typeface="Microsoft YaHei"/>
              </a:defRPr>
            </a:pPr>
            <a:r>
              <a:t>内部测试与优化</a:t>
            </a:r>
          </a:p>
        </p:txBody>
      </p:sp>
      <p:sp>
        <p:nvSpPr>
          <p:cNvPr id="20" name="Oval 19"/>
          <p:cNvSpPr/>
          <p:nvPr/>
        </p:nvSpPr>
        <p:spPr>
          <a:xfrm>
            <a:off x="10728655" y="3863340"/>
            <a:ext cx="182880" cy="182880"/>
          </a:xfrm>
          <a:prstGeom prst="ellipse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88575" y="34518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9A962"/>
                </a:solidFill>
                <a:latin typeface="Microsoft YaHei"/>
              </a:rPr>
              <a:t>2027.Q3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88575" y="4091940"/>
            <a:ext cx="1463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D2D2D"/>
                </a:solidFill>
                <a:latin typeface="Microsoft YaHei"/>
              </a:defRPr>
            </a:pPr>
            <a:r>
              <a:t>产品发布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实施路线图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8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方案对比分析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286000"/>
            <a:ext cx="2590723" cy="556260"/>
          </a:xfrm>
          <a:prstGeom prst="rect">
            <a:avLst/>
          </a:prstGeom>
          <a:solidFill>
            <a:srgbClr val="1B2A4A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31720"/>
            <a:ext cx="2407843" cy="4648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指标</a:t>
            </a:r>
          </a:p>
        </p:txBody>
      </p:sp>
      <p:sp>
        <p:nvSpPr>
          <p:cNvPr id="9" name="Rectangle 8"/>
          <p:cNvSpPr/>
          <p:nvPr/>
        </p:nvSpPr>
        <p:spPr>
          <a:xfrm>
            <a:off x="3505123" y="2286000"/>
            <a:ext cx="2590723" cy="556260"/>
          </a:xfrm>
          <a:prstGeom prst="rect">
            <a:avLst/>
          </a:prstGeom>
          <a:solidFill>
            <a:srgbClr val="1B2A4A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96563" y="2331720"/>
            <a:ext cx="2407843" cy="4648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方案A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5847" y="2286000"/>
            <a:ext cx="2590723" cy="556260"/>
          </a:xfrm>
          <a:prstGeom prst="rect">
            <a:avLst/>
          </a:prstGeom>
          <a:solidFill>
            <a:srgbClr val="1B2A4A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87287" y="2331720"/>
            <a:ext cx="2407843" cy="4648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方案B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571" y="2286000"/>
            <a:ext cx="2590723" cy="556260"/>
          </a:xfrm>
          <a:prstGeom prst="rect">
            <a:avLst/>
          </a:prstGeom>
          <a:solidFill>
            <a:srgbClr val="1B2A4A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011" y="2331720"/>
            <a:ext cx="2407843" cy="4648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方案C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2842260"/>
            <a:ext cx="2590723" cy="556260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887980"/>
            <a:ext cx="2407843" cy="4648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开发周期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05123" y="2842260"/>
            <a:ext cx="2590723" cy="556260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96563" y="2887980"/>
            <a:ext cx="2407843" cy="4648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3个月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5847" y="2842260"/>
            <a:ext cx="2590723" cy="556260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7287" y="2887980"/>
            <a:ext cx="2407843" cy="4648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6个月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571" y="2842260"/>
            <a:ext cx="2590723" cy="556260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011" y="2887980"/>
            <a:ext cx="2407843" cy="4648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2个月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3398520"/>
            <a:ext cx="2590723" cy="556260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444240"/>
            <a:ext cx="2407843" cy="4648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单页成本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05123" y="3398520"/>
            <a:ext cx="2590723" cy="556260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96563" y="3444240"/>
            <a:ext cx="2407843" cy="4648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¥0.02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95847" y="3398520"/>
            <a:ext cx="2590723" cy="556260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87287" y="3444240"/>
            <a:ext cx="2407843" cy="4648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¥0.15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86571" y="3398520"/>
            <a:ext cx="2590723" cy="556260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78011" y="3444240"/>
            <a:ext cx="2407843" cy="4648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¥0.08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3954780"/>
            <a:ext cx="2590723" cy="556260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4000500"/>
            <a:ext cx="2407843" cy="4648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美观度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05123" y="3954780"/>
            <a:ext cx="2590723" cy="556260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96563" y="4000500"/>
            <a:ext cx="2407843" cy="4648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优秀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95847" y="3954780"/>
            <a:ext cx="2590723" cy="556260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87287" y="4000500"/>
            <a:ext cx="2407843" cy="4648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良好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571" y="3954780"/>
            <a:ext cx="2590723" cy="556260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778011" y="4000500"/>
            <a:ext cx="2407843" cy="4648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一般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" y="4511040"/>
            <a:ext cx="2590723" cy="556260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4556760"/>
            <a:ext cx="2407843" cy="4648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可维护性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05123" y="4511040"/>
            <a:ext cx="2590723" cy="556260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96563" y="4556760"/>
            <a:ext cx="2407843" cy="4648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高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95847" y="4511040"/>
            <a:ext cx="2590723" cy="556260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87287" y="4556760"/>
            <a:ext cx="2407843" cy="4648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中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86571" y="4511040"/>
            <a:ext cx="2590723" cy="556260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778011" y="4556760"/>
            <a:ext cx="2407843" cy="4648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低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" y="5067300"/>
            <a:ext cx="2590723" cy="556260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5840" y="5113020"/>
            <a:ext cx="2407843" cy="4648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推荐指数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05123" y="5067300"/>
            <a:ext cx="2590723" cy="556260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596563" y="5113020"/>
            <a:ext cx="2407843" cy="4648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⭐⭐⭐⭐⭐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95847" y="5067300"/>
            <a:ext cx="2590723" cy="556260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87287" y="5113020"/>
            <a:ext cx="2407843" cy="4648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⭐⭐⭐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686571" y="5067300"/>
            <a:ext cx="2590723" cy="556260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78011" y="5113020"/>
            <a:ext cx="2407843" cy="4648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⭐⭐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实施路线图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9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成本效益分析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286000"/>
            <a:ext cx="50800" cy="333756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29600" y="1828800"/>
            <a:ext cx="2743200" cy="274320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256032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C9A962"/>
                </a:solidFill>
                <a:latin typeface="Microsoft YaHei"/>
              </a:rPr>
              <a:t>¥0.02/slide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74904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17171"/>
                </a:solidFill>
                <a:latin typeface="Microsoft YaHei"/>
              </a:rPr>
              <a:t>平均单页生成成本（含 LLM 调用与图片搜索）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443484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D2D2D"/>
                </a:solidFill>
                <a:latin typeface="Microsoft YaHei"/>
              </a:rPr>
              <a:t>以 30 页演示文稿为例，总成本约 ¥0.60，相比人工制作（约 ¥200-500/页）节省 99%+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实施路线图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10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C9A962"/>
                </a:solidFill>
                <a:latin typeface="Microsoft YaHei"/>
              </a:rPr>
              <a:t>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737360"/>
            <a:ext cx="9144000" cy="14668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2D2D2D"/>
                </a:solidFill>
                <a:latin typeface="Microsoft YaHei"/>
              </a:rPr>
              <a:t>好的演示文稿不是信息的堆砌，而是故事的讲述。每一页都应该推动叙事向前发展。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3387089"/>
            <a:ext cx="18288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3569969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17171"/>
                </a:solidFill>
                <a:latin typeface="Microsoft YaHei"/>
              </a:rPr>
              <a:t>— PPT Generator 设计团队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027169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17171"/>
                </a:solidFill>
                <a:latin typeface="Microsoft YaHei"/>
              </a:rPr>
              <a:t>我们坚持'内容为先、视觉为辅'的原则，确保每套 PPT 都有清晰的内在叙事线。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2743200"/>
            <a:ext cx="2286000" cy="508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4484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感谢观看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20040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717171"/>
                </a:solidFill>
                <a:latin typeface="Microsoft YaHei"/>
              </a:rPr>
              <a:t>期待您的反馈与建议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572000"/>
            <a:ext cx="94484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17171"/>
                </a:solidFill>
                <a:latin typeface="Microsoft YaHei"/>
              </a:rPr>
              <a:t>PPT Generator v2.0 — 让每一份演示都成为精品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