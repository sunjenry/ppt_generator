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7620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4114800"/>
            <a:ext cx="2286000" cy="2286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跨专业申请澳大利亚注册前护理硕士：完整规划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Microsoft YaHei"/>
              </a:rPr>
              <a:t>面向计划转换赛道的学生与家长 · 了解 → 比较 → 决策 → 行动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欢迎：这份规划为你而做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为谁而做：已取得学士学位、希望跨专业进入护理领域的学生，以及与子女共同决策的家长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核心通道：注册前护理硕士（Pre-registration Master of Nursing）——非护理本科背景的‘直通车’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四所候选校：墨尔本大学、悉尼大学、莫纳什大学、昆士兰大学（均为澳洲顶尖公立大学）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本讲不回避现实问题：费用、英语门槛、签证、学业与实习压力全部讲清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方法承诺：所有数字均标注来源，并提示‘以官网最新公布为准’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3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为什么护理成为跨专业的热门选择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需求端：注册护士长期出现在澳洲技能短缺职业清单（MLTSSL）上，行业缺口稳定，就业确定性高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供给端：注册前护理硕士专为非护理本科设计，2年完成理论+临床实习，即可具备申请RN注册资格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职业价值：兼具技术移民友好度与人文意义，路径多元——临床、管理、教育、专科护理均可发展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成本可控：四校两年学费约AUD 8.4万–9.8万，属于回报可预期的‘专业投资’（详见费用章节）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政策提醒：具体移民清单与签证政策近年变动频繁，请以澳洲政府官方最新公布为准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注册护士在技能短缺职业清单：以Australian Government Department of Home Affairs最新清单为准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第一部分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5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注册护士（RN）：职责、场景与职业发展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核心职责：健康评估、给药与护理计划、患者及家属教育、与医生等专业人员协同照护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工作场景：公立/私立医院、社区与老年护理、精神健康、偏远地区及远程医疗服务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职业进阶：注册护士 → 专科护士/护理顾问 → 护理管理、护理教育、高级执业护士（NP）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行业地位：护理是澳洲医疗体系最大的职业群体之一，长期处于技能短缺清单（以移民局最新清单为准）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薪酬参考：澳洲注册护士薪酬与资历、排班挂钩，整体水平居全球前列（具体以官方薪酬数据为准）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技能短缺清单：以Department of Home Affairs官网最新公布为准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成为注册护士的三条学历路径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路径一：三年制护理学士——适合高中应届生，周期长，非本讲重点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路径二：注册前护理硕士（2年）——适合已持有本科学位的跨专业者，时间与成本效率最高，本讲重点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路径三：Graduate Entry加速项目——部分大学提供的研究生文凭/硕士，入学要求与学制因校而异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共同终点：完成受NMBA认可的课程 + 满足英语与品行要求 → 向AHPRA申请注册为RN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关键判断：已有本科学位者，硕士路径是最短且被普遍验证的跨专业通道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NMBA认可课程与注册要求：以AHPRA/NMBA官网为准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7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AHPRA / NMBA：认证、注册与英语标准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AHPRA：全国统一健康职业监管机构；NMBA：护理与助产士委员会，制定注册标准并代表政府行使注册权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注册三要素：完成受认可学历课程、满足英语语言标准、通过无犯罪记录等品行与健康审查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英语新标准（2025年3月18日生效）：IELTS总分7.0且各单项≥7.0；OET四项均达B；PTE各单项≥66（以NMBA官方文件为准）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操作时点：毕业时即可提交注册申请，注册获批后方可持证执业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提醒：英语成绩建议‘一次考试达标’，拼分与成绩有效期规则以考试官方及NMBA为准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NMBA English language skills registration standard（2025年3月修订版）：https://www.ahpra.gov.au/documents/default.aspx?record=WD25%2f34649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第二部分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9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我们如何核实四所大学的项目信息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信息来源：各大学官网课程页与Handbook、AHPRA/NMBA官方文件、官方课程检索平台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交叉验证：同一关键事实至少经2个来源印证，并记录核实日期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常见陷阱：第三方平台信息滞后、学费逐年上调、课程认证状态或招生要求变动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本讲做法：所有费用、开学时间、语言要求均标注来源；无法确证的信息明确标注‘待核实’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读者行动：申请前务必以目标校当年度官网招生简章为最终依据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10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比较的七项标准（横向评估维度）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① 入学时间与申请截止：决定申请节奏、容错空间与补救机会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② 先修课要求：人体生理学/解剖学/生物科学是否有硬性门槛，以及在线补救途径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③ 学术要求：GPA/均分门槛、本科专业限制与毕业年限要求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④ 英语要求：考试类型、总分与单项分、是否接受其他考试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⑤ 学制与实习：时长、临床实习安排、是否为NMBA认可课程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四所大学总览（第一眼比较）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1727149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大学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2641549" y="2057400"/>
            <a:ext cx="1727149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2989" y="210312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项目名称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057400"/>
            <a:ext cx="1727149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0138" y="210312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学制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2057400"/>
            <a:ext cx="1727149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287" y="210312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开学时间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2996" y="2057400"/>
            <a:ext cx="1727149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4436" y="210312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学费（约/年）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0145" y="2057400"/>
            <a:ext cx="1727149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1585" y="210312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先修课要点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65176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9748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墨尔本大学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41549" y="265176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2989" y="269748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Nursing Science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8698" y="265176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0138" y="269748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265176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7287" y="269748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仅2月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22996" y="265176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4436" y="269748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~AUD 42,000（两年约8.4万）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0145" y="265176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1585" y="269748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本科不限专业（10年内）；建议修官网生理学预备模块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4612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29184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悉尼大学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1549" y="324612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32989" y="329184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Nursing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8698" y="324612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0138" y="329184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5847" y="324612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7287" y="329184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仅2月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2996" y="324612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14436" y="329184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~AUD 48,900（2025）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0145" y="324612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1585" y="329184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本科（非护理）+人体生物学相关单元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384048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388620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莫纳什大学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41549" y="384048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32989" y="388620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Nursing Practice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8698" y="384048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60138" y="388620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5847" y="384048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87287" y="388620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2月/7月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22996" y="384048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14436" y="388620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~AUD 43,500（2026约47,400）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0145" y="3840480"/>
            <a:ext cx="172714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1585" y="388620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需人体解剖/生理学6学分单元（可在线补修）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43484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48056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昆士兰大学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41549" y="443484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32989" y="448056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Nursing Studies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68698" y="443484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60138" y="448056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5847" y="443484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87287" y="448056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仅2月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22996" y="443484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14436" y="448056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~AUD 43,200（2025）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0145" y="4434840"/>
            <a:ext cx="1727149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41585" y="4480560"/>
            <a:ext cx="15442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本科任何专业+UQ GPA≥4.0+生物科学先修课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第三部分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13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Microsoft YaHei"/>
              </a:rPr>
              <a:t>墨尔本大学（1/2）：Master of Nursing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Nursing Science（课程代码MC-NURSC），2年全日制，Parkville校区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开学：仅每年2月一次，国际生名额有限，建议提前8–10个月启动申请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学术要求：任意专业本科学位，且申请时毕业不超过10年；超过10年需有近期研究生学习或5年相关工作经验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先修课：不限专业背景；官网提供人体生理学在线预备模块，强烈建议先修以提高入学后的适应能力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课程特点：强调循证实践与临床推理，包含多轮医院临床实习轮转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墨尔本Handbook入学要求（学位、英语、预备模块）：https://handbook.unimelb.edu.au/2025/courses/mc-nursc/entry-participation-requirements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14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墨尔本大学（2/2）：语言、费用与注册路径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英语：IELTS 7.0（各单项≥7.0）；TOEFL iBT 94（写作27、其余≥24）；PTE 72（写作75、其余≥72）；须一次考试达标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学费：两年总额约AUD 84,000（约AUD 42,000/年），逐年调整，以官网为准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认证：NMBA认可注册前课程，毕业生满足学历条件后可向AHPRA申请RN注册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注册路径：完成课程 + 满足英语/品行要求 → NMBA注册 → 持证执业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提醒：接受offer押金、奖学金与截止日以录取邮件为准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两年总额AUD 84,000：https://coursesearch-test.studymelbourne.vic.gov.au/course/master-of-nursing-science/101a551b53686d8443a132ae52013940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15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Microsoft YaHei"/>
              </a:rPr>
              <a:t>悉尼大学（1/2）：Master of Nursing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Nursing，2年全日制，悉尼Camperdown校区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开学：仅2月（第一学期），如2025年入学为2月24日；国际生截止通常在前一年9–12月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学术要求：非护理方向的本科学位（建议毕业10年内，以官网为准），课程第一年含人体生物学（Human Biology）单元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选拔流程：除成绩外，还可能包含个人陈述、面试及读写与数理能力评估（以官网当年要求为准）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特点：依托悉尼大学医学与健康学院及大型公立医院临床网络，实习资源丰富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悉尼入学要求（非护理本科、10年内）：https://www.studiesinaustralia.com/courses-in-australia/university-of-sydney/courses/master-of-nursing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悉尼大学（2/2）：语言、费用与注册路径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英语：IELTS 7.0（各单项≥7.0）；TOEFL iBT 96（读/听≥24、写作≥27、口语≥23）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学费：2025年约AUD 48,900/年，两年约AUD 9.8万——四校中最高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认证：NMBA认可课程，毕业生可申请RN注册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生活成本：悉尼为澳洲生活成本最高的城市之一，住宿预算需明显上浮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提醒：先修课未达标者可咨询校方认可的衔接途径（以官网为准）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学费AUD 48,900/年及申请截止（2024年9月29日、12月4日）：https://www.hotcoursesabroad.com/study/degrees/australia/postgraduate/nursing-studies-courses-at-university-of-sydney/loc/9/slevel/3/cgory/ph.1-4/sin/ct/cid/72239/programs.html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17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B2A4A"/>
                </a:solidFill>
                <a:latin typeface="Microsoft YaHei"/>
              </a:rPr>
              <a:t>莫纳什大学（1/2）：Master of Nursing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Nursing Practice（课程代码M6016），2年全日制，Clayton校区——官方定位为‘非护理背景毕业生的执业入门学位’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开学：2月与7月两轮入学——四校中唯一双开学的选择，申请容错率最高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学术要求：本科学位（澳洲护理学士除外），均分至少Credit（60%）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先修课：须完成一门6学分的《人体解剖/生理学》或相关课程；未修者可先完成Monash的Human Biology在线课程再申请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申请材料：需提交个人陈述与简历（以官网要求为准）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莫纳什官方课程页（2年、2月/7月、非护理背景入门学位）：https://www.monash.edu/study/courses/find-a-course/nursing-practice-m6016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18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莫纳什大学（2/2）：语言、费用与注册路径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英语：IELTS 7.0（各单项≥7.0）；PTE 65（各单项≥65）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学费：约AUD 43,500/年（2025）；2026年已上调至约AUD 47,400/年——费用逐年上涨，宜尽早锁定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认证：NMBA认可课程，毕业可申请RN注册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灵活补录：7月开学给错过2月窗口或先修课补救中的申请者多一次机会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提醒：均分、先修课与语言须同时满足；语言未达标可咨询校方认可的语言班路径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学费A$47,400/年（2026年7月入学）：https://www.hotcoursesabroad.com/study/course/australia/master-of-nursing-practice/56791254/program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19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Microsoft YaHei"/>
              </a:rPr>
              <a:t>昆士兰大学（1/2）：Master of Nursing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Nursing Studies，2年全日制，St Lucia校区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开学：仅2月（第一学期），如2025年入学为2月24日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学术要求：本科任何专业，UQ 7分制GPA不低于4.0（约相当于Credit均分）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先修课：需完成经认可的大学水平人体生物科学（human biosciences）科目；未达标可咨询校方衔接途径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特点：布里斯班生活成本低于悉尼/墨尔本；临床实习覆盖城市与乡村医疗系统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UQ官方课程页（英语要求、GPA 4.0）：https://programs-courses.uq.edu.au/program.html?acad_prog=5491&amp;year=2010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20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昆士兰大学（2/2）：语言、费用与注册路径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英语：IELTS 7.0（各单项≥7.0）；TOEFL iBT 100（听力/阅读≥25、写作≥27、口语≥23）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学费：2025年约AUD 43,200/年，两年约AUD 8.64万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认证：NMBA认可课程，毕业可申请RN注册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注册路径：与四校一致——毕业 + 英语 + 品行审查 → AHPRA注册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提醒：GPA门槛看似不高，但热门课程实际择优录取，越早申请越有利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英语要求与GPA：https://programs-courses.uq.edu.au/program.html?acad_prog=5491&amp;year=2010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第四部分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开学时间对比：单点 vs 灵活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仅2月开学：墨尔本、悉尼、昆士兰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每年仅一轮申请，错过需等待一整年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申请截止集中在前一年9–12月（如悉尼2025年入学截止为2024年9月底与12月初）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要求申请者‘一次做对’：语言、材料、先修课必须按首轮截止倒排完成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2月+7月双开学：莫纳什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一年两轮，容错率最高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未赶上2月可7月入学；先修课在线补修后也能更快衔接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特别适合英语首考未达标、或跨专业材料准备时间不确定的申请者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关键权衡：先修课 · 语言 · 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2072579" cy="44577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6979" y="2057400"/>
            <a:ext cx="2072579" cy="44577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8419" y="210312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墨尔本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9558" y="2057400"/>
            <a:ext cx="2072579" cy="44577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0998" y="210312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悉尼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137" y="2057400"/>
            <a:ext cx="2072579" cy="44577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577" y="210312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莫纳什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4716" y="2057400"/>
            <a:ext cx="2072579" cy="44577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6156" y="210312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昆士兰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50317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4889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英语总分/单项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6979" y="250317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8419" y="254889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IELTS 7.0 / 7.0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9558" y="250317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0998" y="254889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IELTS 7.0 / 7.0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137" y="250317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577" y="254889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IELTS 7.0 / 7.0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4716" y="250317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6156" y="254889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IELTS 7.0 / 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894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299466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可接受考试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86979" y="294894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8419" y="299466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雅思/托福/PTE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59558" y="294894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0998" y="299466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雅思/托福等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137" y="294894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577" y="299466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雅思/PTE等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04716" y="294894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6156" y="299466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雅思/托福等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39471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44043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学术门槛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6979" y="339471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78419" y="344043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10年内本科，专业不限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59558" y="339471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50998" y="344043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非护理本科（10年内）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137" y="339471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577" y="344043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本科+均分60%（非澳护理学士）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04716" y="339471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6156" y="344043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本科+UQ GPA≥4.0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84048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88620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先修课补救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6979" y="384048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78419" y="388620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官网预备模块（建议非强制）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59558" y="384048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50998" y="388620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咨询校方衔接途径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137" y="384048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577" y="388620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可在线修Human Biology再申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04716" y="384048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6156" y="388620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咨询校方衔接途径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428625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433197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学费（约/年）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6979" y="428625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78419" y="433197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AUD 42,000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59558" y="428625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50998" y="433197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AUD 48,900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137" y="428625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577" y="433197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AUD 43,500–47,400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04716" y="428625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6156" y="433197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AUD 43,200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473202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" y="477774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开学时间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6979" y="473202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78419" y="477774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仅2月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59558" y="473202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50998" y="477774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仅2月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137" y="473202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577" y="477774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2月/7月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4716" y="4732020"/>
            <a:ext cx="2072579" cy="44577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6156" y="477774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仅2月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517779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5840" y="522351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城市生活成本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86979" y="517779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78419" y="522351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59558" y="517779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50998" y="522351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最高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32137" y="517779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23577" y="522351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04716" y="5177790"/>
            <a:ext cx="2072579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96156" y="5223510"/>
            <a:ext cx="1889699" cy="35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相对较低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选择框架：三种典型情境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情境一 · 预算优先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优先考虑莫纳什或昆士兰：学费低于悉尼，且墨尔本/布里斯班的生活成本低于悉尼。莫纳什的双开学让资金与时间安排更从容，昆士兰则以较低学费叠加低生活成本胜出。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icrosoft YaHei"/>
              </a:rPr>
              <a:t>情境二 · 英语/材料需要缓冲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优先选择莫纳什：7月第二轮入学 + 在线Human Biology先修课，给第一次雅思未达标或材料准备慢的申请者留出补救空间，是容错率最高的选项。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icrosoft YaHei"/>
              </a:rPr>
              <a:t>情境三 · 看重名校与城市资源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选择墨尔本或悉尼：两校综合排名高、临床网络强，但费用最高且仅2月开学。适合语言基础扎实、材料齐全、能按单一时间点冲刺的申请者。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申请时间线（以2027年2月入学为例）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9448495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2026年1–3月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确定目标校与先修课方案，注册雅思/PTE/OET考试，联系校方确认最新要求</a:t>
            </a:r>
          </a:p>
        </p:txBody>
      </p:sp>
      <p:sp>
        <p:nvSpPr>
          <p:cNvPr id="10" name="Oval 9"/>
          <p:cNvSpPr/>
          <p:nvPr/>
        </p:nvSpPr>
        <p:spPr>
          <a:xfrm>
            <a:off x="3169859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9779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2026年4–6月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779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完成语言考试首考；未达标立即安排重考，预留充足间隔与费用</a:t>
            </a:r>
          </a:p>
        </p:txBody>
      </p:sp>
      <p:sp>
        <p:nvSpPr>
          <p:cNvPr id="13" name="Oval 12"/>
          <p:cNvSpPr/>
          <p:nvPr/>
        </p:nvSpPr>
        <p:spPr>
          <a:xfrm>
            <a:off x="5059558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478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2026年6–9月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478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补齐先修课（如Monash在线Human Biology），准备成绩单、个人陈述与简历</a:t>
            </a:r>
          </a:p>
        </p:txBody>
      </p:sp>
      <p:sp>
        <p:nvSpPr>
          <p:cNvPr id="16" name="Oval 15"/>
          <p:cNvSpPr/>
          <p:nvPr/>
        </p:nvSpPr>
        <p:spPr>
          <a:xfrm>
            <a:off x="6949257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177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2026年8–11月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177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提交申请——各校国际生截止集中在前一年9–12月，按‘首轮截止’倒排</a:t>
            </a:r>
          </a:p>
        </p:txBody>
      </p:sp>
      <p:sp>
        <p:nvSpPr>
          <p:cNvPr id="19" name="Oval 18"/>
          <p:cNvSpPr/>
          <p:nvPr/>
        </p:nvSpPr>
        <p:spPr>
          <a:xfrm>
            <a:off x="8838956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876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2026年11月–2027年1月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876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收到offer → 接受并缴纳押金 → 购买OSHC → 准备签证材料</a:t>
            </a:r>
          </a:p>
        </p:txBody>
      </p:sp>
      <p:sp>
        <p:nvSpPr>
          <p:cNvPr id="22" name="Oval 21"/>
          <p:cNvSpPr/>
          <p:nvPr/>
        </p:nvSpPr>
        <p:spPr>
          <a:xfrm>
            <a:off x="10728655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8575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2027年1–2月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提交学生签证申请，安排住宿与机票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申请清单与签证要点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核心材料：本科学位证与完整成绩单（中英文）、语言成绩单、个人陈述、简历、护照、推荐信（按校方要求）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先修课证明：人体生理学/解剖学/生物科学课程大纲，或在线课程完成证书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签证要点：学生签证（Subclass 500）审查Genuine Student真实性——学习计划、资金来源与职业规划需自洽且有证据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财务证明：需覆盖第一年学费+生活费的存款证明（移民局每年更新生活费额度，目前约AUD 3万/年，以官网为准）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节奏建议：所有截止日以校方录取邮件为准；重要文件提前公证/翻译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学生签证生活费证明额度逐年调整，以Home Affairs官网最新公布为准（本文按约AUD 30,000/年估算）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关键数字：两年总成本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57400"/>
            <a:ext cx="50800" cy="35661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828800"/>
            <a:ext cx="2743200" cy="2743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A962"/>
                </a:solidFill>
                <a:latin typeface="Microsoft YaHei"/>
              </a:rPr>
              <a:t>≈AUD 14.5万–16万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两年学费 + 基础生活费总预算（估算，不含机票与个人消费）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434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提醒家长：学费是确定性支出，生活费弹性较大；汇率波动会显著影响人民币口径总额。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28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费用与资金规划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学费（两年）：墨尔本~8.4万 / 悉尼~9.8万 / 莫纳什~8.7万–9.5万 / 昆士兰~8.64万澳元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生活费：移民局生活费证明额度约AUD 30,000/年（逐年更新）；悉尼住宿明显更贵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其他成本：OSHC学生保险约AUD 500–800/年、签证费、体检、机票与教材（约AUD 1.5万–2.5万缓冲）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资金选项：家庭储蓄为主；校方与政府奖学金名额有限；持学生签证每两周可合法工作不超过48小时（以移民局最新规定为准）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预算建议：按‘学费+3万/年生活费+2万缓冲’测算，两年总投入约人民币70–85万（按近期汇率估算，仅供参考）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OSHC约AUD 500–800/年、签证费参考：https://www.wiseadmit.io/universities/university-of-sydney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29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主要风险与缓解策略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风险① 语言未达标：对策——雅思/PTE/OET多条线并行备考，预留重考时间与费用；可先接受有条件录取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风险② 先修课或学术门槛未满足：对策——提前修在线先修课（如Monash Human Biology），或改申双开学的莫纳什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风险③ 签证被拒（Genuine Student审查）：对策——材料真实完整、学习动机清晰、资金证明充分，必要时咨询注册移民代理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风险④ 学业与临床实习压力：对策——提前了解实习排班（可能含夜班与偏远地区），做好时间与财务预案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风险⑤ 政策变动：对策——注册英语标准（2025年3月更新）与签证政策近年调整频繁，全程跟踪AHPRA与移民局公告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NMBA英语新标准生效日期：https://www.ahpra.gov.au/documents/default.aspx?record=WD25%2f34649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2860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总结与立即行动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1"/>
                </a:solidFill>
                <a:latin typeface="Microsoft YaHei"/>
              </a:rPr>
              <a:t>从了解到比较、从决策到行动——跨专业护理之路的关键不是‘能不能’，而是‘如何系统地准备’。现在请迈出三步：① 收藏四校官网课程页，核对当年度招生信息；② 报名语言考试并规划先修课；③ 按时间线倒排申请日程。祝每一位转换赛道的你，顺利抵达澳洲护理执业之路！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