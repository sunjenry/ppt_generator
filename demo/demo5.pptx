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76200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4114800"/>
            <a:ext cx="2286000" cy="22860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澳大利亚工程硕士：从选校到职业认证的完整规划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1480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Microsoft YaHei"/>
              </a:rPr>
              <a:t>面向计划申请澳洲工程硕士的学生与家长｜墨尔本 · UNSW · 蒙纳士 · 昆士兰 电气工程深度解析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50292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综合各校官网与澳大利亚移民局公开信息整理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为什么选择澳大利亚攻读工程硕士？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教育质量全球认可：澳洲八大名校全部跻身QS世界前100；墨尔本大学QS综合排名长期稳居全球前20，UNSW在QS 2027排名全球第19、工程与技术学科全澳第1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实践导向的课程设计：工程硕士普遍内置行业实习与项目（如UNSW要求60天Engineering Professional Practice），毕业生上手即用、雇主认可度高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学历国际互认：EA认证学位受Washington Accord（华盛顿协议）18个成员国互认，为海外注册工程师执业打下学历基础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毕业红利明确：毕业后可申请485临时毕业生签证留澳工作2-3年；电气工程师位列MLTSSL中长期职业清单，是技术移民的热门职业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UNSW官方课程页（QS 2027全球第19、工程与技术全澳第1）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电气工程师：就业需求 vs 移民通道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高薪与紧缺：澳大利亚电气工程师平均年薪约AUD 105,000–125,000（seek.com.au数据，UQ官方课程页引用）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就业行业广阔：能源与电力、矿业、交通、电信、国防、咨询与制造业持续招聘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科研与产业结合：四大名校工程学科QS排名全球前列，行业实习与雇主网络成熟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职业清单：ANZSCO 233311 Electrical Engineer列入MLTSSL中长期战略技能清单，可申请189/190/491/186等签证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职业评估：由Engineers Australia（EA）负责，认证学历可走快速评估通道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典型路径：485工签积累本地经验 → EA职业评估 → 州担保/独立技术移民转永居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第一部分：澳洲工程教育体系与EA认证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5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三类工程硕士，选对才不踩坑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授课型工程硕士（Master of Engineering）：如UNSW 8621、墨大Master of Electrical Engineering、蒙纳士E6014——面向已有工程本科学位的学生，学制2-3年，通常获EA认证，是通往注册工程师最直接的路径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工程科学硕士（Master of Engineering Science）：如UQ的MEngSci——学制1-2年，偏重研究与行业项目，适合深化专长；但部分项目不获EA认证，需特别留意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研究型硕士（MPhil / by Research）：以论文科研为主，未来读博导向，一般不作为职业评估与就业的主力选择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选校第一原则：先核对EA认证状态（Full/Provisional），再比较排名、学费与就业数据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UNSW官网课程页8621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6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Microsoft YaHei"/>
              </a:rPr>
              <a:t>EA认证与Washington Accord：怎么查、为何关键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EA（Engineers Australia）是澳大利亚工程专业认证与职业评估机构，认证等级为Professional Engineer，是注册与移民评估的基石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Washington Accord（华盛顿协议）：EA认证学位获18个签约经济体互认，等同于海外注册工程师的学历基础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查询方法：进入EA官网Accredited Courses搜索页 → 输入大学与课程名称 → 核对Full/Provisional状态与认证年限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为何关键：非认证课程毕业生申请技术移民时需提交CDR能力报告（更复杂、更耗时），且雇主与州担保更青睐认证学位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重要提醒：认证状态会更新（新增课程多为Provisional），务必在申请前于EA官网复核最新信息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engineersaustralia.org.au Masters Guidelines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第二部分：四所名校深度解析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四校电气工程硕士关键信息总览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148041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大学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4813" y="2057400"/>
            <a:ext cx="148041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6253" y="210312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75227" y="2057400"/>
            <a:ext cx="148041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6667" y="210312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学制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55640" y="2057400"/>
            <a:ext cx="148041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7080" y="210312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国际生年学费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36054" y="2057400"/>
            <a:ext cx="148041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7494" y="210312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学术门槛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16467" y="2057400"/>
            <a:ext cx="1480413" cy="594360"/>
          </a:xfrm>
          <a:prstGeom prst="rect">
            <a:avLst/>
          </a:prstGeom>
          <a:solidFill>
            <a:srgbClr val="1B2A4A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7907" y="210312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雅思要求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65176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9748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墨尔本大学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4813" y="265176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6253" y="269748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Master of Electrical Engineering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75227" y="265176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6667" y="269748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2-3年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5640" y="265176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7080" y="269748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≈AUD 52,800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36054" y="265176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7494" y="269748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相关工程学士·加权65%(H2B)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16467" y="265176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7907" y="269748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6.5（单项≥6.0）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24612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29184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UNSW悉尼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94813" y="324612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86253" y="329184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Master of Engineering (Electrical)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75227" y="324612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6667" y="329184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2年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55640" y="324612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47080" y="329184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AUD 61,000(2026)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36054" y="324612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27494" y="329184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4年工程学士·WAM 65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16467" y="324612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7907" y="329184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6.5（写作6.0）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384048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388620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蒙纳士大学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4813" y="384048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6253" y="388620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Master of Engineering (Electrical)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75227" y="384048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66667" y="388620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1-2年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55640" y="384048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47080" y="388620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≈AUD 56,300–59,600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36054" y="384048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27494" y="388620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相关工程学士·high credit 65%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6467" y="3840480"/>
            <a:ext cx="1480413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7907" y="388620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6.5（单项≥6.0）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43484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48056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昆士兰大学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94813" y="443484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86253" y="448056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MEng Science (Electrical)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75227" y="443484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66667" y="448056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1年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55640" y="443484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7080" y="448056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≈AUD 58,056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36054" y="443484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27494" y="448056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4年工程学士·GPA 4.0/7.0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16467" y="4434840"/>
            <a:ext cx="1480413" cy="594360"/>
          </a:xfrm>
          <a:prstGeom prst="rect">
            <a:avLst/>
          </a:prstGeom>
          <a:solidFill>
            <a:srgbClr val="F2F4F7"/>
          </a:solidFill>
          <a:ln w="6350"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7907" y="4480560"/>
            <a:ext cx="129753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6.5（读写≥6.0）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9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墨尔本大学（一）：课程结构与认证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项目定位：Master of Electrical Engineering（对应原Master of Engineering的Electrical and Electronic方向），学制2-3年，视本科是否为工程学位而定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课程体系：工程管理、设计与领导力模块+行业项目+研究课题，与能源、通信、生物医学等科研集群联动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认证：项目获EA认证（Professional Engineer级别），毕业即可衔接Chartered注册流程与职业评估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综合实力：墨大QS综合排名全球第13位（2025），工程学院常年位居全球前列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入学时间：每年3月（Semester 1）与7月（Semester 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IDP墨大课程页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10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墨尔本大学（二）：入学要求与费用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学术要求：相关工程学士学位或相关科学背景，加权平均分≥65%（相当于H2B等级）；跨背景申请者可能被要求读3年制路径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英语要求：IELTS 6.5（单项不低于6.0）；TOEFL 79（写作21、口语18、阅读13、听力13）；PTE 64（单项60）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学费：约AUD 52,800/年（2025年公布），逐年审核上调，两年总学费约AUD 10.5万+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奖学金：墨大国际学生奖学金体系（含学院奖学金），随录取或单独申请，建议尽早提交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IDP课程页（雅思6.5/单项6.0）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11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UNSW（一）：课程特色与行业实践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项目：Master of Engineering（Electrical Engineering），代码8621，2年全日制，Kensington校区；QS 2026电气工程全澳第1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课程结构：6门学科基础课+5门高级专业课+工程管理与技术课+1门设计课+研究项目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行业实践：内置60天Engineering Professional Practice，毕业前就具备真实职场经验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资源：隶属全澳最大的电气工程与电信学院，实验室投入超AUD 1.04亿；UNSW毕业生连续7年获AFR“最受雇主欢迎大学”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认证：获EA全认证（Professional Engineer级别），Washington Accord国际互认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UNSW官网课程页8621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12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UNSW（二）：入学要求与费用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学术要求：相关方向4年工程学士，平均分≥65%（UNSW WAM标准）；或相关专业3年工程科学学士+65%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英语要求：IELTS 6.5（写作6.0，其他单项不低于6.0）；具体以UNSW English Language Requirements页面为准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学费：2026年国际生首年指示性学费AUD 61,000，两年全程约AUD 127,000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开学：Term 1（2月）、Term 2（5月）、Term 3（9月）三季滚动入学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招生提醒：部分高需求课程2026年国际生申请已满额关闭，2027年入学申请已开放——越早申请越有利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UNSW官网课程页（费用、入学、招生状态）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13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蒙纳士（一）：灵活学制与科研资源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项目：Master of Engineering（Electrical方向），课程代码E6014，Clayton校区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灵活学制：1-2年，持相关4年工程学士者可走1年快速路径，背景略弱则读2年完整课程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课程方向：电力系统、可再生能源、信号处理、控制系统等，可选研究项目或行业实习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科研资源：Clayton校区坐拥澳洲领先工程学院与大型能源实验室，行业合作紧密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认证：项目获EA认证，毕业后可衔接CPEng注册与职业评估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monash.edu课程页E6014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14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蒙纳士（二）：入学要求与费用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学术要求：相关方向的四年制工程学士学位，加权平均分high credit（65%）以上；电气方向需具备数学与物理先修课程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英语要求：IELTS 6.5（单项不低于6.0），或等价TOEFL/PTE成绩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学费：约AUD 56,300–59,600/年（2025年不同来源显示区间，以官方费用页为准）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开学：Semester 1（2月）与Semester 2（7月）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奖学金：Monash International Merit Scholarship随录取自动评估，另有学院与校长奖学金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hotcourses蒙纳士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15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昆士兰（一）：课程与研究方向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项目：Master of Engineering Science（Electrical），1年制，适合已有工程本科学位、希望深化专长的学生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培养模式：全体学生完成两学期研究项目或行业实习，涉及嵌入式系统、电气能源转换、计算机网络与操作系统等课程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就业方向：电信、信号与图像处理、机器人、电力发输配、生物医学仪器、矿业与交通、国防航空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学术声誉：UQ为澳洲八大之一，电气与电子工程位列昆士兰第1（QS 2026）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定位说明：MEngSci偏“工程科学”与研究，与执业注册学位定位不同，规划PR需看清认证区别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study.uq.edu.au MEngSci课程页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16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昆士兰（二）：入学要求与认证提醒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学术要求：相关专业4年工程学士（或含全部相关课程内容的工程学位），GPA≥4.0（7分制）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英语要求：IELTS 6.5（阅读、写作单项不低于6.0）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学费与开学：约AUD 58,056/年（2025年指示性）；2月与7月两次入学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重要认证提醒：UQ官网明确Master of Engineering Science（含Management方向）不在EA认证之列——若目标是注册工程师或PR职业评估，请改选获EA认证的2年制Master of Electrical Engineering（Professional）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决策建议：1年MEngSci适合深造与快速增值，2年Professional路径适合移民与执业规划，两者学费接近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study.uq.edu.au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第三部分：申请、费用与签证规划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18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申请要求总览：学术与英语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学术门槛：普遍要求四年制电气/电子/通信等相关工程学士，均分65%（澳制Credit）为四校共同门槛；UQ另要求GPA 4.0/7.0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背景匹配：蒙纳士电气方向需数学+物理先修；跨专业申请者可能加读桥梁课程或选择更长学制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英语三选一：IELTS 6.5是主流要求（单项6.0-6.5不等）；墨大接受TOEFL 79/PTE 64，UNSW接受PTE 64（单项54）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中国学历换算：国内加权均分需结合院校层次评估（通常211/985约75%+、双非约85%+，因校而异，以各校评估为准）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申请费：各校网申费约AUD 100（如蒙纳士AUD 100），部分学校免申请费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IDP/各校官方要求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19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申请材料三件套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学术材料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本科毕业证、学位证（中英文公证）、完整成绩单（含评分标准/GPA说明）；部分学校要求学信网/CDGDC学历认证，并按其GPA换算表评估。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语言成绩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IELTS/TOEFL/PTE官方成绩单（2年内有效）；未达标可配语言班，如UNSW College的Academic English课程或蒙纳士语言桥梁课程，通过后可直入正课。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文书与推荐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个人陈述（说明选校动机与职业规划）、2封学术推荐信、CV（突出项目、实习、竞赛与科研经历）；部分项目另需作品集或额外问卷。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20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12个月申请时间线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9448495" cy="381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T-12个月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锁定目标院校与项目，在EA官网核对认证状态，确定3-5所选校清单，了解各校入学季（Term/Semester）差异</a:t>
            </a:r>
          </a:p>
        </p:txBody>
      </p:sp>
      <p:sp>
        <p:nvSpPr>
          <p:cNvPr id="10" name="Oval 9"/>
          <p:cNvSpPr/>
          <p:nvPr/>
        </p:nvSpPr>
        <p:spPr>
          <a:xfrm>
            <a:off x="3169859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9779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T-8个月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9779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备考并首考IELTS/TOEFL/PTE；同步开具成绩单与在读/毕业证明，联系2位推荐人</a:t>
            </a:r>
          </a:p>
        </p:txBody>
      </p:sp>
      <p:sp>
        <p:nvSpPr>
          <p:cNvPr id="13" name="Oval 12"/>
          <p:cNvSpPr/>
          <p:nvPr/>
        </p:nvSpPr>
        <p:spPr>
          <a:xfrm>
            <a:off x="5059558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478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T-6个月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478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提交网申（不同入学季截止日差异大），同步递交奖学金申请；关注UNSW Term 1与各校Semester 1的截止时间</a:t>
            </a:r>
          </a:p>
        </p:txBody>
      </p:sp>
      <p:sp>
        <p:nvSpPr>
          <p:cNvPr id="16" name="Oval 15"/>
          <p:cNvSpPr/>
          <p:nvPr/>
        </p:nvSpPr>
        <p:spPr>
          <a:xfrm>
            <a:off x="6949257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177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T-3个月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177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接收Offer，确认接受并缴纳押金，获取CoE（入学确认书）；按GS（真实学生）要求准备资金与学习意图说明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8838956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8876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T-2个月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8876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递交500学生签证：CoE、OSHC保险、资金证明（学费+生活费AUD 29,710/年）、体检等材料</a:t>
            </a:r>
          </a:p>
        </p:txBody>
      </p:sp>
      <p:sp>
        <p:nvSpPr>
          <p:cNvPr id="22" name="Oval 21"/>
          <p:cNvSpPr/>
          <p:nvPr/>
        </p:nvSpPr>
        <p:spPr>
          <a:xfrm>
            <a:off x="10728655" y="3749040"/>
            <a:ext cx="182880" cy="18288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8575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962"/>
                </a:solidFill>
                <a:latin typeface="Microsoft YaHei"/>
              </a:rPr>
              <a:t>T-0（出发）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8575" y="397764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D2D2D"/>
                </a:solidFill>
                <a:latin typeface="Microsoft YaHei"/>
              </a:defRPr>
            </a:pPr>
            <a:r>
              <a:t>行前准备：住宿预订、接机、O-Week新生注册；抵澳后激活CoE、银行账户与电话卡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21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学费与生活成本预算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学费区间：电气工程硕士国际生学费约AUD 52,800–61,000/年（2025/26），两年全程约AUD 106,000–127,000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生活费标准：移民局资金证明要求AUD 29,710/年（2024年7月起）；实际开销悉尼/墨尔本偏高、布里斯班略低，蒙纳士建议按AUD 30,000–45,000/年准备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住宿：校内约AUD 220–535/周，校外合租约AUD 180–500/周；餐饮交通与学习材料因人而异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保险：OSHC强制购买，单人每年约AUD 500–800（如Medibank约AUD 769/年）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两年总预算参考：约AUD 16万–20万（学费+生活费+保险+签证杂费），建议预留汇率波动缓冲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Monash官方预算页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22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奖学金 vs 校内兼职：如何平衡预算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大学奖学金：UNSW每年发放超AUD 8,300万奖学金；蒙纳士国际卓越奖学金随录取自动评估；墨大设多档国际生奖学金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政府资助：Australia Awards面向指定国家开放（含学费、生活费、往返机票），多数需通过国家渠道提名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申请策略：先提交录取申请再跟进奖学金批次，部分奖学金需单独文书，注意截止日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兼职政策：学生签证允许每两周工作48小时（2023年7月恢复上限），假期可全职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校内机会：图书馆、实验室助理、院系行政等时薪约AUD 25–35，兼顾学业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工程实习：通过UNSW 60天实习、UQ industry placement等项目积累经验并获取报酬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提醒：兼职是补充而非全部预算来源，优先保证学业与实习质量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学生签证500 vs 毕业生工签485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申请条件：持CoE注册入学、购买OSHC、证明足够资金（学费+生活费AUD 29,710/年+往返机票）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在学权益：学制内每两周可工作48小时；配偶可随行并获工作权利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费用：主申请人签证费自2024年7月大幅上调至约AUD 1,600，审理更重视GS（真实学生）要求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57400"/>
            <a:ext cx="484632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485时长（2024年7月新政后）：本科2年；授课型硕士2年；研究型硕士3年；博士3年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申请窗口：完成学业后6个月内递交，申请时年龄须在35岁以下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英语：需提供近1年内雅思6.0（单项5.0）或同等成绩（以官方为准）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  <a:latin typeface="Microsoft YaHei"/>
              </a:defRPr>
            </a:pPr>
            <a:r>
              <a:t>• 注意：“优先职业+2年延长”已于2024年年中取消，电气工程按常规2年执行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24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1B2A4A"/>
                </a:solidFill>
                <a:latin typeface="Microsoft YaHei"/>
              </a:rPr>
              <a:t>永居路径：189 / 190 / 491 与EA职业评估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职业基础：电气工程师（ANZSCO 233311）列入MLTSSL中长期战略技能清单，可申请189独立技术移民、190州担保、491偏远地区担保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第一道门槛：EA职业评估——认证学位毕业生凭学历直接通过；非认证背景需提交CDR能力报告（3篇项目叙述+总结陈述）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打分制要点：年龄25-32岁（30分）、英语（雅思4个8可加20分）、澳洲学历（15分）、州担保加分等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分数参考：近年工程类189邀请常见于85分以上区间，随财年配额波动，以SkillSelect官方数据为准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最稳路径：485工签期间完成职业评估+积累2年本地经验 → 190/491州担保 → 满足居住条件转PR；雇主担保186作为备选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y-axis职业清单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9A962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第四部分：职业认证与行动建议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26 /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从毕业到Chartered：EA职业认证路径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6289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第一站·职业评估：EA认证硕士毕业生可凭学历直接通过职业评估，这是申请技术移民的必要条件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第二站·会员：从Graduate Member开始，累积4年左右专业工程经验后申请Chartered Professional Engineer（CPEng）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6步Standard Pathway：注册EA会员 → 对照能力基准自评 → 整理证据（项目成果、持续专业发展CPD）→ 提交申请 → 评审/面试 → 获颁CPEng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持续发展：CPEng需每年记录CPD（培训、会议、技术论文），并入选国家工程注册NER，作为州级注册（如昆州RPEQ）的前置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Microsoft YaHei"/>
              </a:defRPr>
            </a:pPr>
            <a:r>
              <a:t>• 增值建议：在校期间加入IEEE等国际学会、参加工程竞赛与实习，为职业评估与面试积累证据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49240"/>
            <a:ext cx="103628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7171"/>
                </a:solidFill>
                <a:latin typeface="Microsoft YaHei"/>
              </a:rPr>
              <a:t>来源: engineersaustralia.org.au Chartered信息页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电气工程师：高薪且紧缺的职业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57400"/>
            <a:ext cx="50800" cy="356616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1828800"/>
            <a:ext cx="2743200" cy="2743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31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C9A962"/>
                </a:solidFill>
                <a:latin typeface="Microsoft YaHei"/>
              </a:rPr>
              <a:t>AUD 105K–125K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20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17171"/>
                </a:solidFill>
                <a:latin typeface="Microsoft YaHei"/>
              </a:rPr>
              <a:t>澳大利亚电气工程师平均年薪区间（seek.com.au数据，UQ官方课程页引用）；矿业、能源与咨询领域资深岗位可达更高水平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三大常见误区与避坑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只看排名、不查认证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误选非EA认证课程（如UQ的MEngSci）可能导致毕业后无法通过职业评估、错失189/190永居。选校第一件事：在EA官网核对Accredited状态。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只算学费、低估生活成本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两年总预算可能超过AUD 16万；悉尼、墨尔本生活费明显高于布里斯班，汇率波动需预留缓冲，建议按蒙纳士官方AUD 30,000–45,000/年的口径做压力测试。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误读485与移民政策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授课型硕士485时长是2年而非4年，年龄上限35岁，“优先专业延长2年”已于2024年中取消；EOI邀请分数逐年波动，切勿依据过期信息规划。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80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6035040"/>
            <a:ext cx="10362895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172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7171"/>
                </a:solidFill>
                <a:latin typeface="Microsoft YaHei"/>
              </a:rPr>
              <a:t>29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B2A4A"/>
                </a:solidFill>
                <a:latin typeface="Microsoft YaHei"/>
              </a:rPr>
              <a:t>最终行动建议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三步定校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①EA官网查认证 → ②比对四校学费、学制与入学季（Term vs Semester）→ ③结合城市生活成本与就业网络，锁定2-3所目标院校梯度申请。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建立信息网络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参加大学线上招生会，联系在读校友（LinkedIn/校友会/小红书），咨询MARA注册持牌移民代理评估EOI分数，别只依赖中介宣传。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2057400"/>
            <a:ext cx="3200400" cy="3566160"/>
          </a:xfrm>
          <a:prstGeom prst="round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2057400"/>
            <a:ext cx="32004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Microsoft YaHei"/>
              </a:rPr>
              <a:t>官方渠道优先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06324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Microsoft YaHei"/>
              </a:defRPr>
            </a:pPr>
            <a:r>
              <a:t>以各校官网 + engineersaustralia.org.au + immi.homeaffairs.gov.au 三个官方来源为准，学费、截止日与签证政策随时可能调整。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2743200"/>
            <a:ext cx="2286000" cy="508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结语：规划先行，未来可期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17171"/>
                </a:solidFill>
                <a:latin typeface="Microsoft YaHei"/>
              </a:rPr>
              <a:t>从EA认证与Washington Accord出发，到四所名校的课程、学费与门槛，再到485工签、189/190永居与CPEng注册——选对认证课程是这一切的起点。愿这份完整规划，帮助您与孩子做出理性、自信的选择。祝申请顺利，前程似锦！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