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76200" cy="68580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4114800"/>
            <a:ext cx="2286000" cy="22860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澳新数据科学硕士：选择与申请规划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14800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Microsoft YaHei"/>
              </a:rPr>
              <a:t>为理工科本科生打造的澳大利亚 vs 新西兰选校·申请·移民全景指南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为什么是数据科学：高需求正在到来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数据量指数级增长：IDC预测2025年全球创建与复制的数据量将达175ZB，企业数字化转型催生对数据分析人才的巨大缺口（IDC DataSphere公开报告摘要）。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数据科学家连续多年位列全球高需求职业前列——世界经济论坛《未来就业报告》将AI与数据类岗位列为增速最快的职业类别之一（公开报告，概述性陈述）。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薪资有吸引力：澳洲数据科学家平均年薪约A$125,000–145,000（SEEK，2025年12月）；新西兰约NZ$120,000–160,000（SalaryExpert / CandidJobs，2025年）。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对理工科本科生友好：计算机、统计、数学、物理、工程等背景均可衔接，一年半左右的硕士即可完成转型，是进入高薪赛道的高杠杆路径。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SEEK数据科学家薪资页（2025-12）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这场分享帮你解决什么问题？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目标：帮助有理工科背景、尚未确定目的地的本科生，在澳大利亚与新西兰之间做出理性、可执行的选择。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方法：先对比两国的教育体系与就业市场，再逐校拆解六个旗舰数据科学硕士项目（两国各三所）。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关键环节：毕业后工签（澳洲485 vs 新西兰PSWV）与永久居留路径的对比分析。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产出：一套可量化的选校评分框架 + 覆盖18个月的申请时间线 + 个性化的行动清单。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第一部分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先看清两国的底色，再谈选校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大学声誉与学科排名：两国的“头部梯队”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澳大利亚：八大名校（Group of Eight）整体排名更高。参考2025年QS世界大学排名，墨尔本大学约第13、悉尼大学约第18、澳国立约第30（排名每年更新，以QS官网为准）。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新西兰：奥克兰大学是唯一常年稳居QS前100的大学（约第65位）；奥塔哥大学与惠灵顿维多利亚大学位于约200–250区间。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学科层面：澳洲高校在CS/数据方向规模更大、研究产出与产业合作更密集；新西兰高校则以精细化培养与小班教学见长。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启示：追求全球排名与雇主品牌，澳洲更胜一筹；看重师生比、研究深度与安静的学习环境，新西兰高校同样有竞争力。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QS世界大学排名数字为2025年参考值，存在年度波动，以QS官网最新数据为准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课程侧重：澳洲重产业实践 vs 新西兰重研究导向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课程设计贴近行业需求：Capstone项目、行业实习与真实数据集实战在澳洲项目中非常常见。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专业方向细分明确（数据工程、机器学习、商业分析等），与金融、科技产业的用人需求直接对接。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以授课型（Coursework）为主，节奏紧凑，1–2年可完成，毕业生上手快。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悉尼、墨尔本校区即就业现场：名企实习、校招与校友网络触手可及。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更强调统计学基础、方法论与科研训练，部分项目包含论文或研究准备课程（如VUW的Part 2研究准备课程）。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班级规模小、导师指导充分，适合有意继续攻读博士的学生。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同样有应用型选项（如奥塔哥MAppSc强调行业落地），但整体学术气质更浓。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论文/研究型路径在申请博士时认可度高，是通往学术界的桥梁。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就业市场与生活成本：澳新关键指标对比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3454298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2057400"/>
            <a:ext cx="3454298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0138" y="2103120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🇦🇺 澳大利亚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22996" y="2057400"/>
            <a:ext cx="3454298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14436" y="2103120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🇳🇿 新西兰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66851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12571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经济体量与科技产业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698" y="2566851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612571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GDP体量大，悉尼/墨尔本为南半球金融与科技双中心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2996" y="2566851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4436" y="2612571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经济体量较小，市场以农业、旅游、健康与政府数据需求为主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076302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22022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数据科学家平均年薪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8698" y="3076302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0138" y="3122022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约A$125,000–145,000（SEEK，2025）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22996" y="3076302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4436" y="3122022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约NZ$120,000–160,000（SalaryExpert/Candid…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585754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31474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就业机会数量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68698" y="3585754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0138" y="3631474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岗位基数大，金融、咨询、科技大厂机会密集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22996" y="3585754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4436" y="3631474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岗位规模较小，但竞争相对缓和，政府与公共部门项目多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095205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140925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留学生月生活费（估算）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698" y="4095205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0138" y="4140925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悉尼/墨尔本约A$2,000–2,800/月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22996" y="4095205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4436" y="4140925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奥克兰/惠灵顿约NZ$1,500–2,200/月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604657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650377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求职逻辑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8698" y="4604657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8" y="4650377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国际化竞争，雇主更看重名校与实习经历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22996" y="4604657"/>
            <a:ext cx="3454298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14436" y="4650377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本地化竞争，人脉、项目经验与签证时长更关键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5114108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159828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生活节奏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68698" y="5114108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0138" y="5159828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都市化、多元、快节奏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2996" y="5114108"/>
            <a:ext cx="3454298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14436" y="5159828"/>
            <a:ext cx="327141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自然风光、工作生活平衡更佳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第二部分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墨尔本、悉尼、澳国立逐校拆解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澳洲数据科学硕士全景概览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学制：1–2年为主，常见2月/7月入学（悉尼大学等提供8月入学），多为滚动录取、先到先得。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学费：国际学生年学费普遍在A$45,000–57,000区间，各校每年调整，以官网当年公布为准。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录取：多数要求相关本科背景（CS、统计、数学等）并审核GPA；雅思主流要求6.5（单项不低于6.0）。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优势：八大名校世界排名高、产业联系紧密、毕业后485工签可无缝衔接求职；注意雅思与GPA门槛需提前准备。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学费区间基于本场介绍的三所大学公开信息汇总，个别年份价格浮动，以官网为准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B2A4A"/>
                </a:solidFill>
                <a:latin typeface="Microsoft YaHei"/>
              </a:rPr>
              <a:t>墨尔本大学 · Master of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学制2年（全日制）；要求相关专业（计算机/数据科学/统计等）本科背景，且加权平均分WAM不低于65%。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学费参考：两年总学费约A$82,800（Study Melbourne课程库2025年数据）；雅思6.5（单项不低于6.0）。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入学：2月与7月两季；课程覆盖统计方法、机器学习、分布式计算与数据可视化。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亮点：地处墨尔本——澳洲科技与金融中心之一，毕业后485工签可衔接大量数据岗位；墨大长期位列QS全球前20。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Study Melbourne课程库（总学费A$82,800）、deltaimmigration课程页（2年/WAM65%/雅思6.5）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YaHei"/>
              </a:rPr>
              <a:t>悉尼大学 · Master of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学制1.5年为主（另设2年路径，视本科背景而定）；学费约A$55,100/年（Hotcourses 2025年数据，1.5年总学费约A$8.3万）。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入学：2月与8月两季；雅思6.5（单项不低于6.0）。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设有数据工程（Data Engineering）、机器学习（Machine Learning）等细分方向，选课灵活。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亮点：位于悉尼——澳洲最大城市与金融中心，商科+科技复合型岗位密集；综合排名全球前20，雇主认可度高。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Hotcourses课程页（1.5年制、A$55,100/年）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B2A4A"/>
                </a:solidFill>
                <a:latin typeface="Microsoft YaHei"/>
              </a:rPr>
              <a:t>澳大利亚国立大学（ANU）· Master of Computing（数据科学方向）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说明：ANU以Master of Computing下设数据科学方向的形式提供培养方案，学制2年全日制，两个方向均接受非计算机背景申请者。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学费参考：总学费约A$79,850起（Courses.com.au公开数据，视年份与学分浮动，2025年部分渠道显示年均学费约A$5.6万）。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入学：2月与7月；雅思6.5（单项不低于6.0）。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亮点：地处堪培拉，紧邻澳洲国家科研体系（CSIRO等）与政府数据机构，适合偏好研究或公共部门就业方向的申请者。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Courses.com.au ANU Master of Computing课程页（总学费A$79,850）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13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澳洲三校数据科学硕士横向对比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3505123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6563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墨尔本大学 MDS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7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7287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悉尼大学 MDS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571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011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澳国立 MComp（数据科学）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学制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123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6563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847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7287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1.5–2年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571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011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总学费参考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5123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6563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约A$82,800（两年）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847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7287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约A$8.3万（1.5年）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571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011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约A$79,850起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入学季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05123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6563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2月/7月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5847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87287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2月/8月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571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011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2月/7月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雅思要求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5123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96563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5847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7287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571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011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课程特色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5123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6563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统计+ML+分布式计算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5847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87287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数据工程/机器学习方向细分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571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011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科研资源密集，政府数据方向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城市定位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5123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96563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墨尔本·科技金融中心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5847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87287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悉尼·金融与总部经济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571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011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堪培拉·首都公共部门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第三部分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奥克兰、奥塔哥、惠灵顿维多利亚逐校拆解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新西兰数据科学硕士全景概览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学制：1–2年为主，入学季集中在2月与7月；申请多为滚动制但名额有限，建议尽早递交。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学费：国际学生年学费约NZ$45,000–68,000，因校与方向而异（各校官网为准）。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语言：雅思6.5（单项6.0）为主流标准，多数项目接受PTE/托福同等成绩。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独特优势：Level 9硕士毕业后可获3年开放工签（全日制满30周即可），是两国方案中“签证性价比”较高的选项；部分学校提供自动发放的奖学金。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INZ/ENZ关于PSWV学历与学习时长要求（2024年8月更新）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B2A4A"/>
                </a:solidFill>
                <a:latin typeface="Microsoft YaHei"/>
              </a:rPr>
              <a:t>奥克兰大学 · Master of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学制：180学分（3个学期≈1.5年）；2025年预估国际生总学费NZ$79,263（奥大官方国际生课程资料）。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入学：2月与7月两季；雅思6.5（单项不低于6.0）。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课程：统计建模、机器学习与应用项目结合，学校是新西兰唯一稳居QS前100的高校。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亮点：奥克兰为新西兰最大城市与经济中心，科技企业与政府部门岗位相对集中；毕业后3年开放工签空间充足。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奥克兰大学官方国际生Data Science资料（2025学费NZ$79,263/180学分）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Microsoft YaHei"/>
              </a:rPr>
              <a:t>奥塔哥大学 · Master of Applied Science（数据科学）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学制：180学分，全日制最快1年完成（官方规定不少于12个月、通常18个月内）；2026年国际生学费约NZ$65,625（官方MAppSc页面）。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入学：以2月为主，首次入学申请截止约12月10日（以当年官方通知为准）；雅思6.5（单项不低于6.0）。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定位：应用导向，强调把数据科学落地到真实行业场景；另设Master of Business Data Science（约NZ$46,576），适合商科+数据复合方向。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注意：奥塔哥该学位2027年起更名为Master of Science (Applied)，申请时请核对当年招生名称。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奥塔哥大学官方MAppSc页面（180学分/12–18个月/2026国际生费NZ$65,625/改名通知）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Microsoft YaHei"/>
              </a:rPr>
              <a:t>惠灵顿维多利亚大学 · Master of Data Science（MDataSc）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学制：240学分（约2年），含60学分基础课程（统计学方法与机器学习）与180学分进阶+研究准备课程（官方课程结构）。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学费：约NZ$45,450/年（Hotcourses 2025年数据，两年总学费约NZ$9万）；雅思6.5（单项不低于6.0）。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入学：2月与7月；研究准备课程为申请博士提供良好衔接。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亮点：符合条件的国际生可自动获得NZ$10,000研究生奖学金（学费直接抵扣）；地处首都惠灵顿，政府与公共部门数据岗位多；另设Women in Data Science NZ奖学金（面向女性学生）。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VUW官方MDataSc课程结构页面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新西兰三校数据科学硕士横向对比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3505123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6563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奥克兰大学 MDS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7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7287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奥塔哥 MAppSc（数据科学）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571" y="2057400"/>
            <a:ext cx="2590723" cy="509451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011" y="2103120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惠灵顿维多利亚 MDataSc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学制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123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6563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1.5年（180学分）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847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7287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1年（180学分）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571" y="2566851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011" y="2612571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约2年（240学分）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总学费参考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5123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6563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约NZ$79,263（2025）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847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7287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约NZ$65,625（2026）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571" y="3076302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011" y="3122022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约NZ$9万（两年）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入学季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05123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6563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2月/7月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5847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87287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571" y="3585754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011" y="3631474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2月/7月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雅思要求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5123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96563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5847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7287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571" y="4095205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011" y="4140925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6.5（单项6.0）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特色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5123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6563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QS前100、规模最大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5847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87287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应用导向、1年完成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571" y="4604657"/>
            <a:ext cx="2590723" cy="509451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011" y="4650377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自动NZ$10,000奖学金、首都政府岗位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城市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5123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96563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奥克兰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5847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87287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但尼丁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571" y="5114108"/>
            <a:ext cx="2590723" cy="509451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011" y="5159828"/>
            <a:ext cx="2407843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惠灵顿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第四部分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485 vs PSWV：两国留人的规则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21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毕业工签对比：澳洲485 vs 新西兰PSWV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🇦🇺 澳洲485（Post-Higher Education Work Stream）：本科毕业生最长2年；授课型硕士在2025年政策调整后约2年；研究型硕士约3年；博士3–4年。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偏远地区（如南澳、塔州等）完成学业可获额外1–2年加成；485持有期间可全职工作，无需雇主担保。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注意：2023–2025年间该签证时长多次调整，申请时务必以澳洲移民局（Home Affairs）官网最新规定为准。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🇳🇿 新西兰PSWV：Level 9硕士在纽全日制学习满30周，毕业后直接获得3年开放式工签，无需先有工作offer。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Level 8研究生文凭：工签时长与在纽学习时长一致（最长3年）；Level 7本科通常为1年。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工签期间可从事任何职业、无雇主绑定，灵活性高；1年制硕士+3年工签的组合在新西兰具有独特优势。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永久居留（PR）路径：两国都是“打分+清单”逻辑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澳大利亚：技术移民采用打分制（189独立技术移民/190州担保/491偏远地区），485期间积累的澳洲工作年限与英语成绩均可加分；数据科学相关岗位多映射至ICT类职业清单（如ICT业务分析师、软件与应用程序员等），具体以移民局最新职业清单为准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新西兰：技术移民采用“六分制”（学历+新西兰工作年限+收入累计积分），硕士学历本身即具较高起点；绿名单（Green List）中的ICT/数据相关职业提供更快通道，符合条件可走雇主担保直通路径。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共同路径：无论选哪国，“毕业后工作—积累经验—打分/担保—永居”是主流路线，工签时长直接决定可行性与节奏，因此选校时就要把工签政策纳入权重。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提示：两国移民政策均在频繁调整（如澳洲485时长、NZ六分制细则），规划时务必保留备选方案（雇主担保、转读博、或回国发展）。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澳洲与新西兰移民政策为概述性说明，打分细节以两国移民局官网最新政策为准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第五部分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把选择变成可计算的分数与可执行的计划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选校决策框架：把“感觉”变成“分数”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五个关键维度：①职业目标（产业vs学术）②总预算（学费+生活费+汇率）③学制时长④移民诉求强度⑤生活节奏偏好。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建立评分矩阵：为每个维度设定权重（合计100%），候选项目按0–5打分，加权求和排序——用数据而不是感觉做决定。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预算测算提醒：用“总学费+每月生活费×学制月数”对比总成本，而不是只看年学费；1年制与2年制的总成本差距可能超过NZ$6–8万。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就业信息验证：查看LinkedIn校友去向、学校就业报告（Graduate Outcomes）、目标公司与岗位所在城市，反向验证项目价值。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框架为方法建议，不涉及具体数据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25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三种典型画像：你是哪一种？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Microsoft YaHei"/>
              </a:rPr>
              <a:t>金融/科技就业型 → 首选澳洲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目标进入金融、咨询或科技大厂，看重岗位基数与雇主品牌。悉尼与墨尔本的数据岗位数量远超新西兰，八大名校排名更具说服力。建议选择墨尔本或悉尼大学的1.5–2年制项目，充分利用485工签窗口求职。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Microsoft YaHei"/>
              </a:rPr>
              <a:t>学术深造型 → 倾向新西兰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计划读博或从事研究，新西兰高校的论文导向与导师制更匹配。奥克兰MDS与VUW的180学分研究准备课程提供了良好衔接；奥塔哥适合快速拿下硕士后申请海外博士。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YaHei"/>
              </a:rPr>
              <a:t>预算/移民优先型 → 新西兰更优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希望总花费可控、毕业后尽快工作拿永居。新西兰1年制项目（如奥塔哥）+Level 9三年开放工签是投入产出比最高的组合；惠灵顿的自动NZ$10,000奖学金进一步压低总成本。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申请时间线：从现在到入学（18个月）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840480"/>
            <a:ext cx="9448495" cy="381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0160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入学前18–12个月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调研目的地与项目：用评分矩阵初筛2–3所目标校，记录各校截止日期、先修课程与语言要求。</a:t>
            </a:r>
          </a:p>
        </p:txBody>
      </p:sp>
      <p:sp>
        <p:nvSpPr>
          <p:cNvPr id="10" name="Oval 9"/>
          <p:cNvSpPr/>
          <p:nvPr/>
        </p:nvSpPr>
        <p:spPr>
          <a:xfrm>
            <a:off x="3642283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2203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入学前12–9个月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2203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备考语言：报名雅思/托福，首考并冲刺目标分——两国主流要求雅思6.5（单项不低于6.0）。</a:t>
            </a:r>
          </a:p>
        </p:txBody>
      </p:sp>
      <p:sp>
        <p:nvSpPr>
          <p:cNvPr id="13" name="Oval 12"/>
          <p:cNvSpPr/>
          <p:nvPr/>
        </p:nvSpPr>
        <p:spPr>
          <a:xfrm>
            <a:off x="6004407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327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入学前9–6个月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4327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准备文书材料：撰写SOP、联系2位推荐人、开具中英成绩单与在读/学位证明。</a:t>
            </a:r>
          </a:p>
        </p:txBody>
      </p:sp>
      <p:sp>
        <p:nvSpPr>
          <p:cNvPr id="16" name="Oval 15"/>
          <p:cNvSpPr/>
          <p:nvPr/>
        </p:nvSpPr>
        <p:spPr>
          <a:xfrm>
            <a:off x="8366531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451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入学前6–3个月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451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递交申请：按轮次提交网申，同步申请院校奖学金（如VUW自动NZ$10,000、Australia Awards等）。</a:t>
            </a:r>
          </a:p>
        </p:txBody>
      </p:sp>
      <p:sp>
        <p:nvSpPr>
          <p:cNvPr id="19" name="Oval 18"/>
          <p:cNvSpPr/>
          <p:nvPr/>
        </p:nvSpPr>
        <p:spPr>
          <a:xfrm>
            <a:off x="10728655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8575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拿到Offer后（入学前3–1个月）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8575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办理学生签证（澳洲500签证/新西兰学生签证），预订住宿与机票，参加行前说明会并准备资金证明。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预算聚焦：先把“总花费”算清楚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57400"/>
            <a:ext cx="50800" cy="356616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0" y="1828800"/>
            <a:ext cx="2743200" cy="2743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3317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C9A962"/>
                </a:solidFill>
                <a:latin typeface="Microsoft YaHei"/>
              </a:rPr>
              <a:t>≈A$8.3万–11万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204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澳洲两年制数据科学硕士总学费参考区间（各校各年不同）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风险清单与应对策略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签证政策变动：485时长2025年已多次调整、新西兰六分制也在更新——做法：只以移民局官网为准，并预留“雇主担保/转读博/回国”等备选路径。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就业竞争：数据岗位虽多但头部岗位竞争激烈——做法：读研期间完成2–3个有展示度的项目（GitHub作品集），参加实习、校招与行业社群。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文化适应：语言、租房、社交是常见压力点——做法：善用学校国际学生服务，提前锁定住宿，加入华人学生会与行业社群建立支持网络。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学术挑战：部分项目对数学与编程基础要求较高——做法：入学前自学Python/概率统计，必要时选择带前置衔接课程的方案或先读GDip/PGCert。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风险与应对为方法论建议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C9A962"/>
                </a:solidFill>
                <a:latin typeface="Microsoft YaHei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737360"/>
            <a:ext cx="9144000" cy="14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2D2D2D"/>
                </a:solidFill>
                <a:latin typeface="Microsoft YaHei"/>
              </a:rPr>
              <a:t>没有绝对更好的国家，只有更匹配你目标的路线——先想清楚自己要什么，再用数据与框架做决定。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387089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56996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— 本场分享·选校决策框架总结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2743200"/>
            <a:ext cx="22860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现在就行动：三步走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717171"/>
                </a:solidFill>
                <a:latin typeface="Microsoft YaHei"/>
              </a:rPr>
              <a:t>第一步：用评分矩阵筛选2–3个目标项目，并逐一核对申请截止日期；第二步：立即开始雅思/托福备考，锁定“6.5、单项不低于6.0”的目标分；第三步：把18个月时间线贴在书桌前，按节点推进。祝你做出让自己不后悔的选择——无论澳洲还是新西兰，数据科学的未来都值得期待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